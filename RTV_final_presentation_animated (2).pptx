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1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70" r:id="rId13"/>
    <p:sldId id="268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A3B8"/>
    <a:srgbClr val="38BDF8"/>
    <a:srgbClr val="0F172A"/>
    <a:srgbClr val="1E293B"/>
    <a:srgbClr val="374C6D"/>
    <a:srgbClr val="748EB8"/>
    <a:srgbClr val="192647"/>
    <a:srgbClr val="21325D"/>
    <a:srgbClr val="2D44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1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139E7-97E5-4C26-8AB1-08101702FF2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DEB477-D54A-4938-8514-5DCC805B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24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EB477-D54A-4938-8514-5DCC805BE98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50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EB477-D54A-4938-8514-5DCC805BE9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369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EB477-D54A-4938-8514-5DCC805BE9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01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EB477-D54A-4938-8514-5DCC805BE98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70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AA912-74DB-01AD-E407-DF0E3644D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8E1C0-39DB-2B72-5262-1BC3E1955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98D91-D8BB-F4BA-1A7E-6EE94754F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19B86-AF7C-467C-AE4B-9FAE091A65C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E7EF2-5EFE-3419-07BB-380721DF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32564-A302-2ACC-ACA6-D4767E97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1B5D9-4866-44EF-941B-48BEF516A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206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73A03-9A28-F0BB-7557-4F1C5BCAA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43D62-612A-6546-5C5E-4A7ED7B62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3BAC7-F404-93DD-A40F-77AA12BE0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19B86-AF7C-467C-AE4B-9FAE091A65C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1A7CC-09C0-9CCE-6CE3-F4A40E2B0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90E2B-4DD0-8350-C2CE-27367F721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1B5D9-4866-44EF-941B-48BEF516A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56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A853D-7073-C9B5-CBA1-B9C9E1A50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4E5FE-392E-AAB9-A7DC-6B374255A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6459D-8790-D373-02D1-4047CF912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19B86-AF7C-467C-AE4B-9FAE091A65C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4399C-64CD-86CA-C204-CD1FA1065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F08A3-5DBA-8ED2-908C-4852E263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1B5D9-4866-44EF-941B-48BEF516A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16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E5E3C-5A74-4B6B-C0B2-B610D7F82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8BF22-3186-745E-FC67-4EC255B585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BBA5E-69D5-07EF-240E-BE5B49A63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0F5699-4164-C570-640E-D998500F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19B86-AF7C-467C-AE4B-9FAE091A65C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62403-7903-5894-58F8-0A07ABBF7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6D303-1203-7B99-DD0C-E63FFB0D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1B5D9-4866-44EF-941B-48BEF516A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19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35B28-DC5C-3E3B-0260-08AB1E3BC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166C5-FEC8-3EEB-0217-4FC675DA5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C43F95-964D-D256-CE90-63AD6CC89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9BC281-BD93-6B18-C409-A86AB76382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7D7115-E5E4-2204-62B6-397ED5FB5F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216B72-84B5-0B1D-8270-4A2E96087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19B86-AF7C-467C-AE4B-9FAE091A65C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6FA405-7121-87C2-C0CD-B4DF49F3E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9AAD3-052C-499D-3E45-03421DB0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1B5D9-4866-44EF-941B-48BEF516A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098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35462-ED5B-FFCB-BAB4-D5A32A7A6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4E8645-7718-5728-C431-32FFB867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19B86-AF7C-467C-AE4B-9FAE091A65C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7E8ED2-4ABF-93D4-7E0B-601C75C12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22679-2944-F399-F4F0-318A4129B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1B5D9-4866-44EF-941B-48BEF516A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29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15DD0-8825-E7F4-040E-9AA67B214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19B86-AF7C-467C-AE4B-9FAE091A65C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8C7A30-2CF0-8875-99DC-1B3569557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93CC3-A709-D1F9-B7CC-C1C3A6D40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1B5D9-4866-44EF-941B-48BEF516A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70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03E7B-B74B-30F8-6B41-9ECA67900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1A3DD-BE58-20F6-D7D1-A9E5285B9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C869B1-78E1-5118-A0F5-32232E70B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07B6E-036A-751C-DE48-DC6C1C79D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19B86-AF7C-467C-AE4B-9FAE091A65C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5108B-FEDC-1C5C-F1A9-5B4331C2F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EA5A5-EB5A-9958-C778-D7F04CB95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1B5D9-4866-44EF-941B-48BEF516A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3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A954-35DB-D075-3334-5725BF22E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7F889E-ED8B-7248-F69F-1331E6E859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3F27E-0530-5FB7-D59D-D317E37D64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39E6C-A0BA-DECF-6E85-0956EB7FE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19B86-AF7C-467C-AE4B-9FAE091A65C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CBFE8-7BBA-376E-A7B3-F71974521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E3661-8133-E226-6963-4FF71F182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1B5D9-4866-44EF-941B-48BEF516A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30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BE87F-A7ED-D305-37D1-F4F4F61CB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161C9F-0CE6-C030-49B9-ECB2FF8F9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968A0-D8C6-A001-CB5A-F1B8CF1A0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19B86-AF7C-467C-AE4B-9FAE091A65C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413B8-CD06-1F1F-B9D1-7365FECD4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9284A-9AB0-921D-8282-0959A8F67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1B5D9-4866-44EF-941B-48BEF516A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57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782AB3-F188-3564-72FD-E401094FF4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53955E-70AD-4B33-BA10-1116F9974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DD7D4-FA60-8A2F-D8A8-B8DC385BD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19B86-AF7C-467C-AE4B-9FAE091A65C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F9918-1B97-7A16-5DA0-5E2586782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F846F-F9ED-85A3-DA5F-ADF3D0051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1B5D9-4866-44EF-941B-48BEF516A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61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EAC110-5382-F6D9-442B-9EDD5FF88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3A6FD-B74E-8991-4827-4588EBCD8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C7700-813B-A5A3-7C7F-0E00FEB8BD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B19B86-AF7C-467C-AE4B-9FAE091A65C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7F501-9BA5-E407-1F39-487A37C16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FA772-17B7-4242-91F9-BCC856C1E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71B5D9-4866-44EF-941B-48BEF516A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305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5.jpe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md.nafiz2023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2E9E7B-5C70-7FB4-695F-171017F38A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3940157-AD4F-39F0-BDC4-BCED0B61E3D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3533" y="-44245"/>
            <a:ext cx="13019066" cy="69464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783AB3-0A71-6879-9740-D04560BB14D0}"/>
              </a:ext>
            </a:extLst>
          </p:cNvPr>
          <p:cNvSpPr txBox="1"/>
          <p:nvPr/>
        </p:nvSpPr>
        <p:spPr>
          <a:xfrm>
            <a:off x="801940" y="670410"/>
            <a:ext cx="71438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Montserrat ExtraBold" pitchFamily="2" charset="0"/>
              </a:rPr>
              <a:t>ROBOTICS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52BB8B-96C9-1B82-AEEB-D457734A8506}"/>
              </a:ext>
            </a:extLst>
          </p:cNvPr>
          <p:cNvSpPr txBox="1"/>
          <p:nvPr/>
        </p:nvSpPr>
        <p:spPr>
          <a:xfrm>
            <a:off x="848691" y="1667991"/>
            <a:ext cx="6963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94A3B8"/>
                </a:solidFill>
                <a:latin typeface="Montserrat Medium" pitchFamily="2" charset="0"/>
              </a:rPr>
              <a:t>The Future of Automation</a:t>
            </a:r>
            <a:endParaRPr lang="en-US" sz="2400" dirty="0">
              <a:solidFill>
                <a:srgbClr val="94A3B8"/>
              </a:solidFill>
              <a:latin typeface="Montserrat Medium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B5C492-9740-7787-8DF2-571D793575B7}"/>
              </a:ext>
            </a:extLst>
          </p:cNvPr>
          <p:cNvSpPr txBox="1"/>
          <p:nvPr/>
        </p:nvSpPr>
        <p:spPr>
          <a:xfrm>
            <a:off x="848690" y="5056512"/>
            <a:ext cx="110675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>
                    <a:lumMod val="95000"/>
                  </a:schemeClr>
                </a:solidFill>
                <a:latin typeface="Montserrat Medium" pitchFamily="2" charset="0"/>
              </a:rPr>
              <a:t>CSE Department</a:t>
            </a:r>
            <a:br>
              <a:rPr lang="en-GB" sz="1400" dirty="0">
                <a:solidFill>
                  <a:schemeClr val="bg1">
                    <a:lumMod val="95000"/>
                  </a:schemeClr>
                </a:solidFill>
                <a:latin typeface="Montserrat Medium" pitchFamily="2" charset="0"/>
              </a:rPr>
            </a:br>
            <a:r>
              <a:rPr lang="en-GB" sz="1400" dirty="0">
                <a:solidFill>
                  <a:schemeClr val="bg1">
                    <a:lumMod val="95000"/>
                  </a:schemeClr>
                </a:solidFill>
                <a:latin typeface="Montserrat Medium" pitchFamily="2" charset="0"/>
              </a:rPr>
              <a:t>Section: J</a:t>
            </a:r>
            <a:br>
              <a:rPr lang="en-GB" sz="1400" dirty="0">
                <a:solidFill>
                  <a:schemeClr val="bg1">
                    <a:lumMod val="95000"/>
                  </a:schemeClr>
                </a:solidFill>
                <a:latin typeface="Montserrat Medium" pitchFamily="2" charset="0"/>
              </a:rPr>
            </a:br>
            <a:r>
              <a:rPr lang="en-GB" sz="1400" dirty="0">
                <a:solidFill>
                  <a:schemeClr val="bg1">
                    <a:lumMod val="95000"/>
                  </a:schemeClr>
                </a:solidFill>
                <a:latin typeface="Montserrat Medium" pitchFamily="2" charset="0"/>
              </a:rPr>
              <a:t>Team: Pi-THOR</a:t>
            </a:r>
            <a:br>
              <a:rPr lang="en-GB" sz="1400" dirty="0">
                <a:solidFill>
                  <a:schemeClr val="bg1">
                    <a:lumMod val="95000"/>
                  </a:schemeClr>
                </a:solidFill>
                <a:latin typeface="Montserrat Medium" pitchFamily="2" charset="0"/>
              </a:rPr>
            </a:br>
            <a:r>
              <a:rPr lang="en-GB" sz="1400" dirty="0">
                <a:solidFill>
                  <a:schemeClr val="bg1">
                    <a:lumMod val="95000"/>
                  </a:schemeClr>
                </a:solidFill>
                <a:latin typeface="Montserrat Medium" pitchFamily="2" charset="0"/>
              </a:rPr>
              <a:t>IUBAT - International University of Business Agriculture and Technology</a:t>
            </a:r>
            <a:endParaRPr lang="en-US" sz="1400" dirty="0">
              <a:solidFill>
                <a:schemeClr val="bg1">
                  <a:lumMod val="95000"/>
                </a:schemeClr>
              </a:solidFill>
              <a:latin typeface="Montserrat Medium" pitchFamily="2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3F1D93B-B9E4-26BA-0ADD-4D92919B7F4A}"/>
              </a:ext>
            </a:extLst>
          </p:cNvPr>
          <p:cNvSpPr/>
          <p:nvPr/>
        </p:nvSpPr>
        <p:spPr>
          <a:xfrm>
            <a:off x="8764487" y="952501"/>
            <a:ext cx="2475014" cy="4952998"/>
          </a:xfrm>
          <a:prstGeom prst="roundRect">
            <a:avLst>
              <a:gd name="adj" fmla="val 22055"/>
            </a:avLst>
          </a:prstGeom>
          <a:solidFill>
            <a:schemeClr val="tx2">
              <a:lumMod val="75000"/>
              <a:lumOff val="2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8150D45-8860-5D17-9674-0779E37C4B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92573" y="1581531"/>
            <a:ext cx="4285870" cy="428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13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2" grpId="0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B19B0-CC00-C1D2-B61C-06DB54418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3433CD-F37B-5F01-2141-A6B05F1B34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B696414-4C40-726D-D822-C0F76429247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3533" y="-88490"/>
            <a:ext cx="13019066" cy="69464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DA3A68-5D06-09AA-B241-8C1946197B76}"/>
              </a:ext>
            </a:extLst>
          </p:cNvPr>
          <p:cNvSpPr txBox="1"/>
          <p:nvPr/>
        </p:nvSpPr>
        <p:spPr>
          <a:xfrm>
            <a:off x="2524059" y="831276"/>
            <a:ext cx="71438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Team Pi-THOR</a:t>
            </a:r>
            <a:endParaRPr lang="en-US" sz="4800" dirty="0">
              <a:solidFill>
                <a:schemeClr val="bg1"/>
              </a:solidFill>
              <a:latin typeface="Roboto Flex ExtraBold" panose="02000000000000000000" pitchFamily="2" charset="0"/>
              <a:ea typeface="Roboto Flex ExtraBold" panose="0200000000000000000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4D48A45-65C6-7A82-D3AB-14C90B82F6B1}"/>
              </a:ext>
            </a:extLst>
          </p:cNvPr>
          <p:cNvGrpSpPr/>
          <p:nvPr/>
        </p:nvGrpSpPr>
        <p:grpSpPr>
          <a:xfrm>
            <a:off x="86007" y="2166831"/>
            <a:ext cx="6963295" cy="941280"/>
            <a:chOff x="1226062" y="2980978"/>
            <a:chExt cx="6963295" cy="94128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5792D57-58AB-11C3-9C27-AF82BF416599}"/>
                </a:ext>
              </a:extLst>
            </p:cNvPr>
            <p:cNvSpPr/>
            <p:nvPr/>
          </p:nvSpPr>
          <p:spPr>
            <a:xfrm>
              <a:off x="2820853" y="2980978"/>
              <a:ext cx="3773714" cy="941280"/>
            </a:xfrm>
            <a:prstGeom prst="roundRect">
              <a:avLst>
                <a:gd name="adj" fmla="val 22835"/>
              </a:avLst>
            </a:prstGeom>
            <a:noFill/>
            <a:ln w="38100"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514F81-CD76-61F5-BAD2-9C2755C4F378}"/>
                </a:ext>
              </a:extLst>
            </p:cNvPr>
            <p:cNvSpPr txBox="1"/>
            <p:nvPr/>
          </p:nvSpPr>
          <p:spPr>
            <a:xfrm>
              <a:off x="1226062" y="3097675"/>
              <a:ext cx="696329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>
                  <a:solidFill>
                    <a:schemeClr val="bg1"/>
                  </a:solidFill>
                  <a:latin typeface="Montserrat Medium" pitchFamily="2" charset="0"/>
                </a:rPr>
                <a:t>Name: Taj Nahar Ali</a:t>
              </a:r>
              <a:br>
                <a:rPr lang="en-GB" sz="2400" dirty="0">
                  <a:solidFill>
                    <a:schemeClr val="bg1"/>
                  </a:solidFill>
                  <a:latin typeface="Montserrat Medium" pitchFamily="2" charset="0"/>
                </a:rPr>
              </a:br>
              <a:r>
                <a:rPr lang="en-GB" sz="2000" dirty="0">
                  <a:solidFill>
                    <a:schemeClr val="bg1"/>
                  </a:solidFill>
                  <a:latin typeface="Montserrat Medium" pitchFamily="2" charset="0"/>
                </a:rPr>
                <a:t>Id: 26103168</a:t>
              </a:r>
              <a:endParaRPr lang="en-US" sz="2000" dirty="0">
                <a:solidFill>
                  <a:schemeClr val="bg1"/>
                </a:solidFill>
                <a:latin typeface="Montserrat Medium" pitchFamily="2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0E2CD95-002C-8549-6512-59D205AF262A}"/>
              </a:ext>
            </a:extLst>
          </p:cNvPr>
          <p:cNvGrpSpPr/>
          <p:nvPr/>
        </p:nvGrpSpPr>
        <p:grpSpPr>
          <a:xfrm>
            <a:off x="86007" y="3555090"/>
            <a:ext cx="6963295" cy="941280"/>
            <a:chOff x="1226062" y="2980978"/>
            <a:chExt cx="6963295" cy="94128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5840E0F-71C2-76B5-D33D-FD3306A73B01}"/>
                </a:ext>
              </a:extLst>
            </p:cNvPr>
            <p:cNvSpPr/>
            <p:nvPr/>
          </p:nvSpPr>
          <p:spPr>
            <a:xfrm>
              <a:off x="2820853" y="2980978"/>
              <a:ext cx="3773714" cy="941280"/>
            </a:xfrm>
            <a:prstGeom prst="roundRect">
              <a:avLst>
                <a:gd name="adj" fmla="val 22835"/>
              </a:avLst>
            </a:prstGeom>
            <a:noFill/>
            <a:ln w="38100"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D6DBE46-1079-081A-723F-9B3D97BBD488}"/>
                </a:ext>
              </a:extLst>
            </p:cNvPr>
            <p:cNvSpPr txBox="1"/>
            <p:nvPr/>
          </p:nvSpPr>
          <p:spPr>
            <a:xfrm>
              <a:off x="1226062" y="3097675"/>
              <a:ext cx="696329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>
                  <a:solidFill>
                    <a:schemeClr val="bg1"/>
                  </a:solidFill>
                  <a:latin typeface="Montserrat Medium" pitchFamily="2" charset="0"/>
                </a:rPr>
                <a:t>Name: Ratul Hassan</a:t>
              </a:r>
              <a:br>
                <a:rPr lang="en-GB" sz="2400" dirty="0">
                  <a:solidFill>
                    <a:schemeClr val="bg1"/>
                  </a:solidFill>
                  <a:latin typeface="Montserrat Medium" pitchFamily="2" charset="0"/>
                </a:rPr>
              </a:br>
              <a:r>
                <a:rPr lang="en-GB" sz="2000" dirty="0">
                  <a:solidFill>
                    <a:schemeClr val="bg1"/>
                  </a:solidFill>
                  <a:latin typeface="Montserrat Medium" pitchFamily="2" charset="0"/>
                </a:rPr>
                <a:t>Id: 26103152</a:t>
              </a:r>
              <a:endParaRPr lang="en-US" sz="2000" dirty="0">
                <a:solidFill>
                  <a:schemeClr val="bg1"/>
                </a:solidFill>
                <a:latin typeface="Montserrat Medium" pitchFamily="2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F682DB4-7D66-0201-2955-4195D7CB3753}"/>
              </a:ext>
            </a:extLst>
          </p:cNvPr>
          <p:cNvGrpSpPr/>
          <p:nvPr/>
        </p:nvGrpSpPr>
        <p:grpSpPr>
          <a:xfrm>
            <a:off x="86007" y="4937769"/>
            <a:ext cx="6963295" cy="941280"/>
            <a:chOff x="1226062" y="2980978"/>
            <a:chExt cx="6963295" cy="94128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4BEC530D-848B-4C8F-D994-BE80DB6F0BEC}"/>
                </a:ext>
              </a:extLst>
            </p:cNvPr>
            <p:cNvSpPr/>
            <p:nvPr/>
          </p:nvSpPr>
          <p:spPr>
            <a:xfrm>
              <a:off x="2820853" y="2980978"/>
              <a:ext cx="3773714" cy="941280"/>
            </a:xfrm>
            <a:prstGeom prst="roundRect">
              <a:avLst>
                <a:gd name="adj" fmla="val 22835"/>
              </a:avLst>
            </a:prstGeom>
            <a:noFill/>
            <a:ln w="38100"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83C434-059D-A17E-C72A-CDFE38907581}"/>
                </a:ext>
              </a:extLst>
            </p:cNvPr>
            <p:cNvSpPr txBox="1"/>
            <p:nvPr/>
          </p:nvSpPr>
          <p:spPr>
            <a:xfrm>
              <a:off x="1226062" y="3097675"/>
              <a:ext cx="696329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>
                  <a:solidFill>
                    <a:schemeClr val="bg1"/>
                  </a:solidFill>
                  <a:latin typeface="Montserrat Medium" pitchFamily="2" charset="0"/>
                </a:rPr>
                <a:t>Name: Junaid Bhuiyan</a:t>
              </a:r>
              <a:br>
                <a:rPr lang="en-GB" sz="2400" dirty="0">
                  <a:solidFill>
                    <a:schemeClr val="bg1"/>
                  </a:solidFill>
                  <a:latin typeface="Montserrat Medium" pitchFamily="2" charset="0"/>
                </a:rPr>
              </a:br>
              <a:r>
                <a:rPr lang="en-GB" sz="2000" dirty="0">
                  <a:solidFill>
                    <a:schemeClr val="bg1"/>
                  </a:solidFill>
                  <a:latin typeface="Montserrat Medium" pitchFamily="2" charset="0"/>
                </a:rPr>
                <a:t>Id: 26103166</a:t>
              </a:r>
              <a:endParaRPr lang="en-US" sz="2000" dirty="0">
                <a:solidFill>
                  <a:schemeClr val="bg1"/>
                </a:solidFill>
                <a:latin typeface="Montserrat Medium" pitchFamily="2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C82FE5B-7E67-BFA1-65B8-3404A534F6A3}"/>
              </a:ext>
            </a:extLst>
          </p:cNvPr>
          <p:cNvGrpSpPr/>
          <p:nvPr/>
        </p:nvGrpSpPr>
        <p:grpSpPr>
          <a:xfrm>
            <a:off x="5142698" y="2184574"/>
            <a:ext cx="6963295" cy="941280"/>
            <a:chOff x="1226062" y="2980978"/>
            <a:chExt cx="6963295" cy="94128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2816EAA-0360-6A78-1F98-C0F92ED7338B}"/>
                </a:ext>
              </a:extLst>
            </p:cNvPr>
            <p:cNvSpPr/>
            <p:nvPr/>
          </p:nvSpPr>
          <p:spPr>
            <a:xfrm>
              <a:off x="2820853" y="2980978"/>
              <a:ext cx="3773714" cy="941280"/>
            </a:xfrm>
            <a:prstGeom prst="roundRect">
              <a:avLst>
                <a:gd name="adj" fmla="val 22835"/>
              </a:avLst>
            </a:prstGeom>
            <a:noFill/>
            <a:ln w="38100"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3D69A0C-B02C-3018-62DB-723025F58DF3}"/>
                </a:ext>
              </a:extLst>
            </p:cNvPr>
            <p:cNvSpPr txBox="1"/>
            <p:nvPr/>
          </p:nvSpPr>
          <p:spPr>
            <a:xfrm>
              <a:off x="1226062" y="3097675"/>
              <a:ext cx="696329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>
                  <a:solidFill>
                    <a:schemeClr val="bg1"/>
                  </a:solidFill>
                  <a:latin typeface="Montserrat Medium" pitchFamily="2" charset="0"/>
                </a:rPr>
                <a:t>Name: Nur e Jannat</a:t>
              </a:r>
              <a:br>
                <a:rPr lang="en-GB" sz="2400" dirty="0">
                  <a:solidFill>
                    <a:schemeClr val="bg1"/>
                  </a:solidFill>
                  <a:latin typeface="Montserrat Medium" pitchFamily="2" charset="0"/>
                </a:rPr>
              </a:br>
              <a:r>
                <a:rPr lang="en-GB" sz="2000" dirty="0">
                  <a:solidFill>
                    <a:schemeClr val="bg1"/>
                  </a:solidFill>
                  <a:latin typeface="Montserrat Medium" pitchFamily="2" charset="0"/>
                </a:rPr>
                <a:t>Id: 26103153</a:t>
              </a:r>
              <a:endParaRPr lang="en-US" sz="2000" dirty="0">
                <a:solidFill>
                  <a:schemeClr val="bg1"/>
                </a:solidFill>
                <a:latin typeface="Montserrat Medium" pitchFamily="2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A2F654D-AA6E-EB6C-DA03-014EEB469E35}"/>
              </a:ext>
            </a:extLst>
          </p:cNvPr>
          <p:cNvGrpSpPr/>
          <p:nvPr/>
        </p:nvGrpSpPr>
        <p:grpSpPr>
          <a:xfrm>
            <a:off x="5142698" y="3558659"/>
            <a:ext cx="6963295" cy="941280"/>
            <a:chOff x="1226062" y="2980978"/>
            <a:chExt cx="6963295" cy="94128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0B32D74-559C-576E-0F83-F08BCF6D9B4E}"/>
                </a:ext>
              </a:extLst>
            </p:cNvPr>
            <p:cNvSpPr/>
            <p:nvPr/>
          </p:nvSpPr>
          <p:spPr>
            <a:xfrm>
              <a:off x="2820853" y="2980978"/>
              <a:ext cx="3773714" cy="941280"/>
            </a:xfrm>
            <a:prstGeom prst="roundRect">
              <a:avLst>
                <a:gd name="adj" fmla="val 22835"/>
              </a:avLst>
            </a:prstGeom>
            <a:noFill/>
            <a:ln w="38100"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B0170AE-B4B5-C8B4-4283-E63D2289B69A}"/>
                </a:ext>
              </a:extLst>
            </p:cNvPr>
            <p:cNvSpPr txBox="1"/>
            <p:nvPr/>
          </p:nvSpPr>
          <p:spPr>
            <a:xfrm>
              <a:off x="1226062" y="3097675"/>
              <a:ext cx="696329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>
                  <a:solidFill>
                    <a:schemeClr val="bg1"/>
                  </a:solidFill>
                  <a:latin typeface="Montserrat Medium" pitchFamily="2" charset="0"/>
                </a:rPr>
                <a:t>Name: Md. Nafiz Uddin</a:t>
              </a:r>
              <a:br>
                <a:rPr lang="en-GB" sz="2400" dirty="0">
                  <a:solidFill>
                    <a:schemeClr val="bg1"/>
                  </a:solidFill>
                  <a:latin typeface="Montserrat Medium" pitchFamily="2" charset="0"/>
                </a:rPr>
              </a:br>
              <a:r>
                <a:rPr lang="en-GB" sz="2000" dirty="0">
                  <a:solidFill>
                    <a:schemeClr val="bg1"/>
                  </a:solidFill>
                  <a:latin typeface="Montserrat Medium" pitchFamily="2" charset="0"/>
                </a:rPr>
                <a:t>Id: 26103161</a:t>
              </a:r>
              <a:endParaRPr lang="en-US" sz="2000" dirty="0">
                <a:solidFill>
                  <a:schemeClr val="bg1"/>
                </a:solidFill>
                <a:latin typeface="Montserrat Medium" pitchFamily="2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D4835C6-CA6F-296D-E70D-F95764141882}"/>
              </a:ext>
            </a:extLst>
          </p:cNvPr>
          <p:cNvGrpSpPr/>
          <p:nvPr/>
        </p:nvGrpSpPr>
        <p:grpSpPr>
          <a:xfrm>
            <a:off x="5142698" y="4953001"/>
            <a:ext cx="6963295" cy="941280"/>
            <a:chOff x="1226062" y="2980978"/>
            <a:chExt cx="6963295" cy="94128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9EE475C-60C0-6C2C-B904-58EE1CF9C4E8}"/>
                </a:ext>
              </a:extLst>
            </p:cNvPr>
            <p:cNvSpPr/>
            <p:nvPr/>
          </p:nvSpPr>
          <p:spPr>
            <a:xfrm>
              <a:off x="2820853" y="2980978"/>
              <a:ext cx="3773714" cy="941280"/>
            </a:xfrm>
            <a:prstGeom prst="roundRect">
              <a:avLst>
                <a:gd name="adj" fmla="val 22835"/>
              </a:avLst>
            </a:prstGeom>
            <a:noFill/>
            <a:ln w="38100"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D0D12BA-AD7E-1B9F-C59D-EF1ED4EB7648}"/>
                </a:ext>
              </a:extLst>
            </p:cNvPr>
            <p:cNvSpPr txBox="1"/>
            <p:nvPr/>
          </p:nvSpPr>
          <p:spPr>
            <a:xfrm>
              <a:off x="1226062" y="3097675"/>
              <a:ext cx="696329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>
                  <a:solidFill>
                    <a:schemeClr val="bg1"/>
                  </a:solidFill>
                  <a:latin typeface="Montserrat Medium" pitchFamily="2" charset="0"/>
                </a:rPr>
                <a:t>Name: </a:t>
              </a:r>
              <a:r>
                <a:rPr lang="en-GB" sz="2000" dirty="0" err="1">
                  <a:solidFill>
                    <a:schemeClr val="bg1"/>
                  </a:solidFill>
                  <a:latin typeface="Montserrat Medium" pitchFamily="2" charset="0"/>
                </a:rPr>
                <a:t>Efazz</a:t>
              </a:r>
              <a:r>
                <a:rPr lang="en-GB" sz="2000" dirty="0">
                  <a:solidFill>
                    <a:schemeClr val="bg1"/>
                  </a:solidFill>
                  <a:latin typeface="Montserrat Medium" pitchFamily="2" charset="0"/>
                </a:rPr>
                <a:t> Kadir</a:t>
              </a:r>
              <a:br>
                <a:rPr lang="en-GB" sz="2400" dirty="0">
                  <a:solidFill>
                    <a:schemeClr val="bg1"/>
                  </a:solidFill>
                  <a:latin typeface="Montserrat Medium" pitchFamily="2" charset="0"/>
                </a:rPr>
              </a:br>
              <a:r>
                <a:rPr lang="en-GB" sz="2000" dirty="0">
                  <a:solidFill>
                    <a:schemeClr val="bg1"/>
                  </a:solidFill>
                  <a:latin typeface="Montserrat Medium" pitchFamily="2" charset="0"/>
                </a:rPr>
                <a:t>Id: 26103175</a:t>
              </a:r>
              <a:endParaRPr lang="en-US" sz="2000" dirty="0">
                <a:solidFill>
                  <a:schemeClr val="bg1"/>
                </a:solidFill>
                <a:latin typeface="Montserrat Medium" pitchFamily="2" charset="0"/>
              </a:endParaRP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13D63A86-94FE-A32B-6DEB-2AAB1E20E019}"/>
              </a:ext>
            </a:extLst>
          </p:cNvPr>
          <p:cNvSpPr/>
          <p:nvPr/>
        </p:nvSpPr>
        <p:spPr>
          <a:xfrm rot="5400000">
            <a:off x="6086475" y="-609705"/>
            <a:ext cx="19050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81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25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75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F0BC0-E4B2-E84B-D0A2-6296050BC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1B47DE-349F-37A1-3B5A-4EBC421AAD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95745C-4EEC-8814-3ADF-203B7989E5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3533" y="-44245"/>
            <a:ext cx="13019066" cy="69464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6F4531D-128B-36D7-6BB2-2AB6BD7C052B}"/>
              </a:ext>
            </a:extLst>
          </p:cNvPr>
          <p:cNvSpPr/>
          <p:nvPr/>
        </p:nvSpPr>
        <p:spPr>
          <a:xfrm>
            <a:off x="4373881" y="1463040"/>
            <a:ext cx="19050" cy="3931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1C51457-E2C3-A172-EFE3-013C051C7AE5}"/>
              </a:ext>
            </a:extLst>
          </p:cNvPr>
          <p:cNvGrpSpPr/>
          <p:nvPr/>
        </p:nvGrpSpPr>
        <p:grpSpPr>
          <a:xfrm>
            <a:off x="-1123162" y="2393997"/>
            <a:ext cx="9107084" cy="1969055"/>
            <a:chOff x="-1123162" y="2521910"/>
            <a:chExt cx="9107084" cy="196905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B9D9AF-427F-A5CD-7B77-47B867CEEA25}"/>
                </a:ext>
              </a:extLst>
            </p:cNvPr>
            <p:cNvSpPr txBox="1"/>
            <p:nvPr/>
          </p:nvSpPr>
          <p:spPr>
            <a:xfrm>
              <a:off x="820990" y="2644561"/>
              <a:ext cx="401771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0" dirty="0">
                  <a:solidFill>
                    <a:srgbClr val="38BDF8"/>
                  </a:solidFill>
                  <a:latin typeface="Montserrat ExtraBold" pitchFamily="2" charset="0"/>
                </a:rPr>
                <a:t>2</a:t>
              </a:r>
              <a:r>
                <a:rPr lang="en-US" sz="10000" dirty="0">
                  <a:solidFill>
                    <a:srgbClr val="38BDF8"/>
                  </a:solidFill>
                  <a:latin typeface="Montserrat ExtraBold" pitchFamily="2" charset="0"/>
                </a:rPr>
                <a:t>019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924491-4D59-F82C-F7D3-5FE2C835F8D3}"/>
                </a:ext>
              </a:extLst>
            </p:cNvPr>
            <p:cNvSpPr txBox="1"/>
            <p:nvPr/>
          </p:nvSpPr>
          <p:spPr>
            <a:xfrm>
              <a:off x="840040" y="2521910"/>
              <a:ext cx="71438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>
                  <a:solidFill>
                    <a:schemeClr val="bg1"/>
                  </a:solidFill>
                  <a:latin typeface="Montserrat ExtraBold" pitchFamily="2" charset="0"/>
                </a:rPr>
                <a:t>ESTABLISHED In</a:t>
              </a:r>
              <a:endParaRPr lang="en-US" sz="2000" dirty="0">
                <a:solidFill>
                  <a:schemeClr val="bg1"/>
                </a:solidFill>
                <a:latin typeface="Montserrat ExtraBold" pitchFamily="2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4A27549-5126-EBC8-0FFF-D3D0713D0970}"/>
                </a:ext>
              </a:extLst>
            </p:cNvPr>
            <p:cNvSpPr txBox="1"/>
            <p:nvPr/>
          </p:nvSpPr>
          <p:spPr>
            <a:xfrm>
              <a:off x="-1123162" y="4060078"/>
              <a:ext cx="714388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solidFill>
                    <a:schemeClr val="bg1"/>
                  </a:solidFill>
                  <a:latin typeface="Roboto Flex ExtraBold" panose="02000000000000000000" pitchFamily="2" charset="0"/>
                  <a:ea typeface="Roboto Flex ExtraBold" panose="02000000000000000000" pitchFamily="2" charset="0"/>
                </a:rPr>
                <a:t>DHAKA, BANGLADESH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972F26B-BC3E-A395-2C94-B834F804E905}"/>
              </a:ext>
            </a:extLst>
          </p:cNvPr>
          <p:cNvSpPr txBox="1"/>
          <p:nvPr/>
        </p:nvSpPr>
        <p:spPr>
          <a:xfrm>
            <a:off x="4701890" y="1752601"/>
            <a:ext cx="714388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 Medium" pitchFamily="2" charset="0"/>
              </a:rPr>
              <a:t>Introduction to</a:t>
            </a:r>
            <a:br>
              <a:rPr lang="en-US" sz="2400" dirty="0">
                <a:solidFill>
                  <a:schemeClr val="bg1"/>
                </a:solidFill>
                <a:latin typeface="Montserrat Medium" pitchFamily="2" charset="0"/>
              </a:rPr>
            </a:br>
            <a:r>
              <a:rPr lang="en-US" sz="4400" dirty="0">
                <a:solidFill>
                  <a:srgbClr val="38BDF8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ROBO TECH VALLY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9A0D0D3-BC81-71A8-DA60-FE1AC8287C61}"/>
              </a:ext>
            </a:extLst>
          </p:cNvPr>
          <p:cNvGrpSpPr/>
          <p:nvPr/>
        </p:nvGrpSpPr>
        <p:grpSpPr>
          <a:xfrm>
            <a:off x="4647455" y="3108891"/>
            <a:ext cx="6912260" cy="1015663"/>
            <a:chOff x="4642485" y="3177749"/>
            <a:chExt cx="6912260" cy="1015663"/>
          </a:xfrm>
        </p:grpSpPr>
        <p:pic>
          <p:nvPicPr>
            <p:cNvPr id="18" name="Graphic 17" descr="Gears with solid fill">
              <a:extLst>
                <a:ext uri="{FF2B5EF4-FFF2-40B4-BE49-F238E27FC236}">
                  <a16:creationId xmlns:a16="http://schemas.microsoft.com/office/drawing/2014/main" id="{7FAD1019-3D32-28C3-5C89-A86D3BC4F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42485" y="3228380"/>
              <a:ext cx="914400" cy="914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C18E80D-CAAC-9088-2739-C7411232AFD4}"/>
                </a:ext>
              </a:extLst>
            </p:cNvPr>
            <p:cNvSpPr txBox="1"/>
            <p:nvPr/>
          </p:nvSpPr>
          <p:spPr>
            <a:xfrm>
              <a:off x="5612917" y="3177749"/>
              <a:ext cx="594182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>
                  <a:solidFill>
                    <a:schemeClr val="bg1"/>
                  </a:solidFill>
                  <a:latin typeface="Montserrat Medium" pitchFamily="2" charset="0"/>
                </a:rPr>
                <a:t>A remarkable platform lighting the path for future innovators by transforming robotics education in Bangladesh</a:t>
              </a:r>
              <a:endParaRPr lang="en-US" sz="2000" dirty="0">
                <a:solidFill>
                  <a:schemeClr val="bg1"/>
                </a:solidFill>
                <a:latin typeface="Montserrat Medium" pitchFamily="2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3A2CFBE-3AE3-0554-8F81-D6607E026CEE}"/>
              </a:ext>
            </a:extLst>
          </p:cNvPr>
          <p:cNvGrpSpPr/>
          <p:nvPr/>
        </p:nvGrpSpPr>
        <p:grpSpPr>
          <a:xfrm>
            <a:off x="4655999" y="4265251"/>
            <a:ext cx="6910549" cy="813294"/>
            <a:chOff x="4644196" y="4270118"/>
            <a:chExt cx="6910549" cy="813294"/>
          </a:xfrm>
        </p:grpSpPr>
        <p:pic>
          <p:nvPicPr>
            <p:cNvPr id="24" name="Graphic 23" descr="Marker with solid fill">
              <a:extLst>
                <a:ext uri="{FF2B5EF4-FFF2-40B4-BE49-F238E27FC236}">
                  <a16:creationId xmlns:a16="http://schemas.microsoft.com/office/drawing/2014/main" id="{A3B5C2D1-1E36-C81A-B39D-FB1A97B89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44196" y="4270118"/>
              <a:ext cx="910978" cy="81329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A848601-1A1E-48B8-A9BB-D3A2679AEFC0}"/>
                </a:ext>
              </a:extLst>
            </p:cNvPr>
            <p:cNvSpPr txBox="1"/>
            <p:nvPr/>
          </p:nvSpPr>
          <p:spPr>
            <a:xfrm>
              <a:off x="5612917" y="4476710"/>
              <a:ext cx="59418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Montserrat Medium" pitchFamily="2" charset="0"/>
                </a:rPr>
                <a:t>Road-4, RUPNAGAR,MIRPUR 2, DHAKA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588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5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75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705D6-C7D7-8654-8BE8-013386709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B2FB0413-BFFF-3DAD-40B3-6039981F8B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3533" y="-44245"/>
            <a:ext cx="13019066" cy="6946490"/>
          </a:xfrm>
          <a:prstGeom prst="rect">
            <a:avLst/>
          </a:prstGeom>
        </p:spPr>
      </p:pic>
      <p:pic>
        <p:nvPicPr>
          <p:cNvPr id="9" name="Picture 8" descr="Screenshot 2025-09-10 110615">
            <a:extLst>
              <a:ext uri="{FF2B5EF4-FFF2-40B4-BE49-F238E27FC236}">
                <a16:creationId xmlns:a16="http://schemas.microsoft.com/office/drawing/2014/main" id="{7EC9AC99-7734-8187-A055-53D1CB8F3E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5" r="2475" b="10087"/>
          <a:stretch>
            <a:fillRect/>
          </a:stretch>
        </p:blipFill>
        <p:spPr>
          <a:xfrm>
            <a:off x="6476996" y="3656981"/>
            <a:ext cx="4952853" cy="2443044"/>
          </a:xfrm>
          <a:custGeom>
            <a:avLst/>
            <a:gdLst>
              <a:gd name="csX0" fmla="*/ 141263 w 4952853"/>
              <a:gd name="csY0" fmla="*/ 0 h 2443044"/>
              <a:gd name="csX1" fmla="*/ 4796642 w 4952853"/>
              <a:gd name="csY1" fmla="*/ 0 h 2443044"/>
              <a:gd name="csX2" fmla="*/ 4848716 w 4952853"/>
              <a:gd name="csY2" fmla="*/ 10513 h 2443044"/>
              <a:gd name="csX3" fmla="*/ 4952853 w 4952853"/>
              <a:gd name="csY3" fmla="*/ 167620 h 2443044"/>
              <a:gd name="csX4" fmla="*/ 4952853 w 4952853"/>
              <a:gd name="csY4" fmla="*/ 2272538 h 2443044"/>
              <a:gd name="csX5" fmla="*/ 4782347 w 4952853"/>
              <a:gd name="csY5" fmla="*/ 2443044 h 2443044"/>
              <a:gd name="csX6" fmla="*/ 155558 w 4952853"/>
              <a:gd name="csY6" fmla="*/ 2443044 h 2443044"/>
              <a:gd name="csX7" fmla="*/ 34992 w 4952853"/>
              <a:gd name="csY7" fmla="*/ 2393104 h 2443044"/>
              <a:gd name="csX8" fmla="*/ 0 w 4952853"/>
              <a:gd name="csY8" fmla="*/ 2341204 h 2443044"/>
              <a:gd name="csX9" fmla="*/ 0 w 4952853"/>
              <a:gd name="csY9" fmla="*/ 98954 h 2443044"/>
              <a:gd name="csX10" fmla="*/ 34992 w 4952853"/>
              <a:gd name="csY10" fmla="*/ 47054 h 2443044"/>
              <a:gd name="csX11" fmla="*/ 89190 w 4952853"/>
              <a:gd name="csY11" fmla="*/ 10513 h 24430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4952853" h="2443044">
                <a:moveTo>
                  <a:pt x="141263" y="0"/>
                </a:moveTo>
                <a:lnTo>
                  <a:pt x="4796642" y="0"/>
                </a:lnTo>
                <a:lnTo>
                  <a:pt x="4848716" y="10513"/>
                </a:lnTo>
                <a:cubicBezTo>
                  <a:pt x="4909913" y="36398"/>
                  <a:pt x="4952853" y="96994"/>
                  <a:pt x="4952853" y="167620"/>
                </a:cubicBezTo>
                <a:lnTo>
                  <a:pt x="4952853" y="2272538"/>
                </a:lnTo>
                <a:cubicBezTo>
                  <a:pt x="4952853" y="2366706"/>
                  <a:pt x="4876515" y="2443044"/>
                  <a:pt x="4782347" y="2443044"/>
                </a:cubicBezTo>
                <a:lnTo>
                  <a:pt x="155558" y="2443044"/>
                </a:lnTo>
                <a:cubicBezTo>
                  <a:pt x="108474" y="2443044"/>
                  <a:pt x="65848" y="2423960"/>
                  <a:pt x="34992" y="2393104"/>
                </a:cubicBezTo>
                <a:lnTo>
                  <a:pt x="0" y="2341204"/>
                </a:lnTo>
                <a:lnTo>
                  <a:pt x="0" y="98954"/>
                </a:lnTo>
                <a:lnTo>
                  <a:pt x="34992" y="47054"/>
                </a:lnTo>
                <a:cubicBezTo>
                  <a:pt x="50420" y="31626"/>
                  <a:pt x="68791" y="19141"/>
                  <a:pt x="89190" y="10513"/>
                </a:cubicBezTo>
                <a:close/>
              </a:path>
            </a:pathLst>
          </a:custGeom>
        </p:spPr>
      </p:pic>
      <p:pic>
        <p:nvPicPr>
          <p:cNvPr id="7" name="Picture 6" descr="Screenshot 2025-09-10 110718">
            <a:extLst>
              <a:ext uri="{FF2B5EF4-FFF2-40B4-BE49-F238E27FC236}">
                <a16:creationId xmlns:a16="http://schemas.microsoft.com/office/drawing/2014/main" id="{AD05D861-AEEE-C854-6952-B8BB87D33D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47" t="2028" r="374" b="28274"/>
          <a:stretch>
            <a:fillRect/>
          </a:stretch>
        </p:blipFill>
        <p:spPr>
          <a:xfrm>
            <a:off x="762000" y="1627068"/>
            <a:ext cx="4933945" cy="4472957"/>
          </a:xfrm>
          <a:custGeom>
            <a:avLst/>
            <a:gdLst>
              <a:gd name="csX0" fmla="*/ 264312 w 4933945"/>
              <a:gd name="csY0" fmla="*/ 0 h 4472957"/>
              <a:gd name="csX1" fmla="*/ 4650583 w 4933945"/>
              <a:gd name="csY1" fmla="*/ 0 h 4472957"/>
              <a:gd name="csX2" fmla="*/ 4684815 w 4933945"/>
              <a:gd name="csY2" fmla="*/ 3451 h 4472957"/>
              <a:gd name="csX3" fmla="*/ 4933945 w 4933945"/>
              <a:gd name="csY3" fmla="*/ 309123 h 4472957"/>
              <a:gd name="csX4" fmla="*/ 4933945 w 4933945"/>
              <a:gd name="csY4" fmla="*/ 4160946 h 4472957"/>
              <a:gd name="csX5" fmla="*/ 4621934 w 4933945"/>
              <a:gd name="csY5" fmla="*/ 4472957 h 4472957"/>
              <a:gd name="csX6" fmla="*/ 292961 w 4933945"/>
              <a:gd name="csY6" fmla="*/ 4472957 h 4472957"/>
              <a:gd name="csX7" fmla="*/ 5469 w 4933945"/>
              <a:gd name="csY7" fmla="*/ 4282395 h 4472957"/>
              <a:gd name="csX8" fmla="*/ 0 w 4933945"/>
              <a:gd name="csY8" fmla="*/ 4264776 h 4472957"/>
              <a:gd name="csX9" fmla="*/ 0 w 4933945"/>
              <a:gd name="csY9" fmla="*/ 205294 h 4472957"/>
              <a:gd name="csX10" fmla="*/ 5469 w 4933945"/>
              <a:gd name="csY10" fmla="*/ 187674 h 4472957"/>
              <a:gd name="csX11" fmla="*/ 230080 w 4933945"/>
              <a:gd name="csY11" fmla="*/ 3451 h 44729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4933945" h="4472957">
                <a:moveTo>
                  <a:pt x="264312" y="0"/>
                </a:moveTo>
                <a:lnTo>
                  <a:pt x="4650583" y="0"/>
                </a:lnTo>
                <a:lnTo>
                  <a:pt x="4684815" y="3451"/>
                </a:lnTo>
                <a:cubicBezTo>
                  <a:pt x="4826994" y="32545"/>
                  <a:pt x="4933945" y="158344"/>
                  <a:pt x="4933945" y="309123"/>
                </a:cubicBezTo>
                <a:lnTo>
                  <a:pt x="4933945" y="4160946"/>
                </a:lnTo>
                <a:cubicBezTo>
                  <a:pt x="4933945" y="4333265"/>
                  <a:pt x="4794253" y="4472957"/>
                  <a:pt x="4621934" y="4472957"/>
                </a:cubicBezTo>
                <a:lnTo>
                  <a:pt x="292961" y="4472957"/>
                </a:lnTo>
                <a:cubicBezTo>
                  <a:pt x="163722" y="4472957"/>
                  <a:pt x="52835" y="4394380"/>
                  <a:pt x="5469" y="4282395"/>
                </a:cubicBezTo>
                <a:lnTo>
                  <a:pt x="0" y="4264776"/>
                </a:lnTo>
                <a:lnTo>
                  <a:pt x="0" y="205294"/>
                </a:lnTo>
                <a:lnTo>
                  <a:pt x="5469" y="187674"/>
                </a:lnTo>
                <a:cubicBezTo>
                  <a:pt x="44941" y="94353"/>
                  <a:pt x="128524" y="24232"/>
                  <a:pt x="230080" y="3451"/>
                </a:cubicBezTo>
                <a:close/>
              </a:path>
            </a:pathLst>
          </a:custGeom>
        </p:spPr>
      </p:pic>
      <p:pic>
        <p:nvPicPr>
          <p:cNvPr id="10" name="Picture 9" descr="Screenshot 2025-09-10 110522">
            <a:extLst>
              <a:ext uri="{FF2B5EF4-FFF2-40B4-BE49-F238E27FC236}">
                <a16:creationId xmlns:a16="http://schemas.microsoft.com/office/drawing/2014/main" id="{942992D3-E78B-5FF8-1723-2B5E40377A8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366" r="300" b="21925"/>
          <a:stretch>
            <a:fillRect/>
          </a:stretch>
        </p:blipFill>
        <p:spPr>
          <a:xfrm>
            <a:off x="6462197" y="755091"/>
            <a:ext cx="4967801" cy="2530567"/>
          </a:xfrm>
          <a:custGeom>
            <a:avLst/>
            <a:gdLst>
              <a:gd name="csX0" fmla="*/ 176406 w 4967801"/>
              <a:gd name="csY0" fmla="*/ 0 h 2530567"/>
              <a:gd name="csX1" fmla="*/ 4791395 w 4967801"/>
              <a:gd name="csY1" fmla="*/ 0 h 2530567"/>
              <a:gd name="csX2" fmla="*/ 4967801 w 4967801"/>
              <a:gd name="csY2" fmla="*/ 176406 h 2530567"/>
              <a:gd name="csX3" fmla="*/ 4967801 w 4967801"/>
              <a:gd name="csY3" fmla="*/ 2354162 h 2530567"/>
              <a:gd name="csX4" fmla="*/ 4860060 w 4967801"/>
              <a:gd name="csY4" fmla="*/ 2516705 h 2530567"/>
              <a:gd name="csX5" fmla="*/ 4791400 w 4967801"/>
              <a:gd name="csY5" fmla="*/ 2530567 h 2530567"/>
              <a:gd name="csX6" fmla="*/ 176401 w 4967801"/>
              <a:gd name="csY6" fmla="*/ 2530567 h 2530567"/>
              <a:gd name="csX7" fmla="*/ 107741 w 4967801"/>
              <a:gd name="csY7" fmla="*/ 2516705 h 2530567"/>
              <a:gd name="csX8" fmla="*/ 0 w 4967801"/>
              <a:gd name="csY8" fmla="*/ 2354162 h 2530567"/>
              <a:gd name="csX9" fmla="*/ 0 w 4967801"/>
              <a:gd name="csY9" fmla="*/ 176406 h 2530567"/>
              <a:gd name="csX10" fmla="*/ 176406 w 4967801"/>
              <a:gd name="csY10" fmla="*/ 0 h 25305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967801" h="2530567">
                <a:moveTo>
                  <a:pt x="176406" y="0"/>
                </a:moveTo>
                <a:lnTo>
                  <a:pt x="4791395" y="0"/>
                </a:lnTo>
                <a:cubicBezTo>
                  <a:pt x="4888821" y="0"/>
                  <a:pt x="4967801" y="78980"/>
                  <a:pt x="4967801" y="176406"/>
                </a:cubicBezTo>
                <a:lnTo>
                  <a:pt x="4967801" y="2354162"/>
                </a:lnTo>
                <a:cubicBezTo>
                  <a:pt x="4967801" y="2427232"/>
                  <a:pt x="4923375" y="2489925"/>
                  <a:pt x="4860060" y="2516705"/>
                </a:cubicBezTo>
                <a:lnTo>
                  <a:pt x="4791400" y="2530567"/>
                </a:lnTo>
                <a:lnTo>
                  <a:pt x="176401" y="2530567"/>
                </a:lnTo>
                <a:lnTo>
                  <a:pt x="107741" y="2516705"/>
                </a:lnTo>
                <a:cubicBezTo>
                  <a:pt x="44427" y="2489925"/>
                  <a:pt x="0" y="2427232"/>
                  <a:pt x="0" y="2354162"/>
                </a:cubicBezTo>
                <a:lnTo>
                  <a:pt x="0" y="176406"/>
                </a:lnTo>
                <a:cubicBezTo>
                  <a:pt x="0" y="78980"/>
                  <a:pt x="78980" y="0"/>
                  <a:pt x="176406" y="0"/>
                </a:cubicBezTo>
                <a:close/>
              </a:path>
            </a:pathLst>
          </a:cu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03C8EE-9C36-EEB4-99ED-94C3BAA4EDA0}"/>
              </a:ext>
            </a:extLst>
          </p:cNvPr>
          <p:cNvSpPr txBox="1"/>
          <p:nvPr/>
        </p:nvSpPr>
        <p:spPr>
          <a:xfrm>
            <a:off x="800110" y="752202"/>
            <a:ext cx="71438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Robo Tech Valley</a:t>
            </a:r>
            <a:endParaRPr lang="en-US" sz="4400" dirty="0">
              <a:solidFill>
                <a:schemeClr val="bg1"/>
              </a:solidFill>
              <a:latin typeface="Roboto Flex ExtraBold" panose="02000000000000000000" pitchFamily="2" charset="0"/>
              <a:ea typeface="Roboto Flex ExtraBold" panose="02000000000000000000" pitchFamily="2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58E6058-DA03-80AF-714D-48B21C7B5A37}"/>
              </a:ext>
            </a:extLst>
          </p:cNvPr>
          <p:cNvSpPr/>
          <p:nvPr/>
        </p:nvSpPr>
        <p:spPr>
          <a:xfrm rot="5400000">
            <a:off x="3581400" y="3419475"/>
            <a:ext cx="50292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98C4E8D-7750-BA47-47D1-7C477EE65EE2}"/>
              </a:ext>
            </a:extLst>
          </p:cNvPr>
          <p:cNvSpPr/>
          <p:nvPr/>
        </p:nvSpPr>
        <p:spPr>
          <a:xfrm>
            <a:off x="742949" y="1624179"/>
            <a:ext cx="4933945" cy="4472957"/>
          </a:xfrm>
          <a:prstGeom prst="roundRect">
            <a:avLst>
              <a:gd name="adj" fmla="val 6446"/>
            </a:avLst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44DDC2D-DD8F-5E88-D0E9-4E3E27A11817}"/>
              </a:ext>
            </a:extLst>
          </p:cNvPr>
          <p:cNvSpPr/>
          <p:nvPr/>
        </p:nvSpPr>
        <p:spPr>
          <a:xfrm>
            <a:off x="6457945" y="760021"/>
            <a:ext cx="4933945" cy="2525638"/>
          </a:xfrm>
          <a:prstGeom prst="roundRect">
            <a:avLst>
              <a:gd name="adj" fmla="val 6446"/>
            </a:avLst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9F236E2-A727-A9F5-4ADD-210E3626E7B7}"/>
              </a:ext>
            </a:extLst>
          </p:cNvPr>
          <p:cNvSpPr/>
          <p:nvPr/>
        </p:nvSpPr>
        <p:spPr>
          <a:xfrm>
            <a:off x="6457945" y="3654092"/>
            <a:ext cx="4933945" cy="2443044"/>
          </a:xfrm>
          <a:prstGeom prst="roundRect">
            <a:avLst>
              <a:gd name="adj" fmla="val 6446"/>
            </a:avLst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5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presetID="16" presetClass="entr" presetSubtype="4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75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25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2" grpId="0" animBg="1"/>
      <p:bldP spid="13" grpId="0" animBg="1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9826A-1D5A-297B-2ADA-932883AE2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F56C71-A808-2430-571E-9A34AF875B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06416C7-A223-5A3D-C682-B38032A621A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3533" y="-44245"/>
            <a:ext cx="13019066" cy="69464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377E848-7DD9-7C09-EC63-A60053AA5082}"/>
              </a:ext>
            </a:extLst>
          </p:cNvPr>
          <p:cNvSpPr/>
          <p:nvPr/>
        </p:nvSpPr>
        <p:spPr>
          <a:xfrm>
            <a:off x="952500" y="1431820"/>
            <a:ext cx="5715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191F19-9193-EC3D-7E80-283EE2E2F694}"/>
              </a:ext>
            </a:extLst>
          </p:cNvPr>
          <p:cNvSpPr txBox="1"/>
          <p:nvPr/>
        </p:nvSpPr>
        <p:spPr>
          <a:xfrm>
            <a:off x="854490" y="843976"/>
            <a:ext cx="71438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CORE INITIATIVES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20589F-B289-B700-74EC-3A0C90DE5861}"/>
              </a:ext>
            </a:extLst>
          </p:cNvPr>
          <p:cNvGrpSpPr/>
          <p:nvPr/>
        </p:nvGrpSpPr>
        <p:grpSpPr>
          <a:xfrm>
            <a:off x="952499" y="1722660"/>
            <a:ext cx="5053233" cy="1987409"/>
            <a:chOff x="952499" y="1722660"/>
            <a:chExt cx="5053233" cy="1987409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F110AA11-8EE2-E341-CAD1-DBC0F84E3A06}"/>
                </a:ext>
              </a:extLst>
            </p:cNvPr>
            <p:cNvSpPr/>
            <p:nvPr/>
          </p:nvSpPr>
          <p:spPr>
            <a:xfrm>
              <a:off x="952499" y="1722660"/>
              <a:ext cx="5053233" cy="1987409"/>
            </a:xfrm>
            <a:prstGeom prst="roundRect">
              <a:avLst>
                <a:gd name="adj" fmla="val 16668"/>
              </a:avLst>
            </a:prstGeom>
            <a:noFill/>
            <a:ln w="28575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A1466DA-D2B9-B138-DB27-6503CD2F7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341" y="1995137"/>
              <a:ext cx="548640" cy="548640"/>
            </a:xfrm>
            <a:prstGeom prst="rect">
              <a:avLst/>
            </a:prstGeom>
            <a:noFill/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44F013-415C-F8ED-DDDF-4F8C49B9877A}"/>
                </a:ext>
              </a:extLst>
            </p:cNvPr>
            <p:cNvSpPr txBox="1"/>
            <p:nvPr/>
          </p:nvSpPr>
          <p:spPr>
            <a:xfrm>
              <a:off x="1055367" y="2675161"/>
              <a:ext cx="25722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Montserrat ExtraBold" pitchFamily="2" charset="0"/>
                </a:rPr>
                <a:t>Tech Labs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7168F8D-5B08-6939-CC53-B8E3D14E6641}"/>
                </a:ext>
              </a:extLst>
            </p:cNvPr>
            <p:cNvSpPr txBox="1"/>
            <p:nvPr/>
          </p:nvSpPr>
          <p:spPr>
            <a:xfrm>
              <a:off x="1055366" y="3091600"/>
              <a:ext cx="49503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rgbClr val="94A3B8"/>
                  </a:solidFill>
                  <a:latin typeface="Montserrat Medium" pitchFamily="2" charset="0"/>
                </a:rPr>
                <a:t>An innovation hub for mastering Android, Web, and Desktop application development through hands-on mentorship.</a:t>
              </a:r>
              <a:endParaRPr lang="en-US" sz="1200" dirty="0">
                <a:solidFill>
                  <a:srgbClr val="94A3B8"/>
                </a:solidFill>
                <a:latin typeface="Montserrat Medium" pitchFamily="2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DA2CD66-40E5-4A5A-1884-4F4426197780}"/>
              </a:ext>
            </a:extLst>
          </p:cNvPr>
          <p:cNvGrpSpPr/>
          <p:nvPr/>
        </p:nvGrpSpPr>
        <p:grpSpPr>
          <a:xfrm>
            <a:off x="6186267" y="1722660"/>
            <a:ext cx="5056632" cy="1987409"/>
            <a:chOff x="6186267" y="1722660"/>
            <a:chExt cx="5056632" cy="1987409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79692D5C-434E-A6B7-4F07-1B1D5B84A107}"/>
                </a:ext>
              </a:extLst>
            </p:cNvPr>
            <p:cNvSpPr/>
            <p:nvPr/>
          </p:nvSpPr>
          <p:spPr>
            <a:xfrm>
              <a:off x="6186267" y="1722660"/>
              <a:ext cx="5056632" cy="1987409"/>
            </a:xfrm>
            <a:prstGeom prst="roundRect">
              <a:avLst>
                <a:gd name="adj" fmla="val 16668"/>
              </a:avLst>
            </a:prstGeom>
            <a:noFill/>
            <a:ln w="28575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B5A271A-C0C6-5F38-A352-E64CB88C6130}"/>
                </a:ext>
              </a:extLst>
            </p:cNvPr>
            <p:cNvSpPr txBox="1"/>
            <p:nvPr/>
          </p:nvSpPr>
          <p:spPr>
            <a:xfrm>
              <a:off x="6289134" y="2675161"/>
              <a:ext cx="25722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>
                  <a:solidFill>
                    <a:schemeClr val="bg1"/>
                  </a:solidFill>
                  <a:latin typeface="Montserrat ExtraBold" pitchFamily="2" charset="0"/>
                </a:rPr>
                <a:t>Robotics Kits</a:t>
              </a:r>
              <a:endParaRPr lang="en-US" sz="2000" dirty="0">
                <a:solidFill>
                  <a:schemeClr val="bg1"/>
                </a:solidFill>
                <a:latin typeface="Montserrat ExtraBold" pitchFamily="2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F4BEA1-0551-F5F6-3D7D-C46AD9ACB017}"/>
                </a:ext>
              </a:extLst>
            </p:cNvPr>
            <p:cNvSpPr txBox="1"/>
            <p:nvPr/>
          </p:nvSpPr>
          <p:spPr>
            <a:xfrm>
              <a:off x="6289133" y="3091600"/>
              <a:ext cx="49503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rgbClr val="94A3B8"/>
                  </a:solidFill>
                  <a:latin typeface="Montserrat Medium" pitchFamily="2" charset="0"/>
                </a:rPr>
                <a:t>High-quality, DIY robotics components and kits designed to empower the next generation of engineers.</a:t>
              </a:r>
              <a:endParaRPr lang="en-US" sz="1200" dirty="0">
                <a:solidFill>
                  <a:srgbClr val="94A3B8"/>
                </a:solidFill>
                <a:latin typeface="Montserrat Medium" pitchFamily="2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94FB583-3597-2648-453A-47B471767A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lumMod val="50000"/>
                  <a:lumOff val="50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97033" y="2014988"/>
              <a:ext cx="528789" cy="528789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095857F-1FD7-159E-7B20-2D80C31BE5C4}"/>
              </a:ext>
            </a:extLst>
          </p:cNvPr>
          <p:cNvGrpSpPr/>
          <p:nvPr/>
        </p:nvGrpSpPr>
        <p:grpSpPr>
          <a:xfrm>
            <a:off x="952499" y="3906931"/>
            <a:ext cx="5053233" cy="1987409"/>
            <a:chOff x="952499" y="3906931"/>
            <a:chExt cx="5053233" cy="198740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CF9AB6D-F1E8-5414-3335-0628E069AFEA}"/>
                </a:ext>
              </a:extLst>
            </p:cNvPr>
            <p:cNvSpPr/>
            <p:nvPr/>
          </p:nvSpPr>
          <p:spPr>
            <a:xfrm>
              <a:off x="952499" y="3906931"/>
              <a:ext cx="5053233" cy="1987409"/>
            </a:xfrm>
            <a:prstGeom prst="roundRect">
              <a:avLst>
                <a:gd name="adj" fmla="val 16668"/>
              </a:avLst>
            </a:prstGeom>
            <a:noFill/>
            <a:ln w="28575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90CA475-2100-2E51-630D-5C9E013B5B61}"/>
                </a:ext>
              </a:extLst>
            </p:cNvPr>
            <p:cNvSpPr txBox="1"/>
            <p:nvPr/>
          </p:nvSpPr>
          <p:spPr>
            <a:xfrm>
              <a:off x="1055367" y="4859432"/>
              <a:ext cx="25722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>
                  <a:solidFill>
                    <a:schemeClr val="bg1"/>
                  </a:solidFill>
                  <a:latin typeface="Montserrat ExtraBold" pitchFamily="2" charset="0"/>
                </a:rPr>
                <a:t>I</a:t>
              </a:r>
              <a:r>
                <a:rPr lang="en-US" sz="2000" dirty="0" err="1">
                  <a:solidFill>
                    <a:schemeClr val="bg1"/>
                  </a:solidFill>
                  <a:latin typeface="Montserrat ExtraBold" pitchFamily="2" charset="0"/>
                </a:rPr>
                <a:t>oT</a:t>
              </a:r>
              <a:r>
                <a:rPr lang="en-US" sz="2000" dirty="0">
                  <a:solidFill>
                    <a:schemeClr val="bg1"/>
                  </a:solidFill>
                  <a:latin typeface="Montserrat ExtraBold" pitchFamily="2" charset="0"/>
                </a:rPr>
                <a:t> Tools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1111584-15D0-5079-CB0C-0AABC66F64EE}"/>
                </a:ext>
              </a:extLst>
            </p:cNvPr>
            <p:cNvSpPr txBox="1"/>
            <p:nvPr/>
          </p:nvSpPr>
          <p:spPr>
            <a:xfrm>
              <a:off x="1055366" y="5275871"/>
              <a:ext cx="49469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rgbClr val="94A3B8"/>
                  </a:solidFill>
                  <a:latin typeface="Montserrat Medium" pitchFamily="2" charset="0"/>
                </a:rPr>
                <a:t>Smart sensors and connectivity modules for building advanced home automation and industrial IoT systems.</a:t>
              </a:r>
              <a:endParaRPr lang="en-US" sz="1200" dirty="0">
                <a:solidFill>
                  <a:srgbClr val="94A3B8"/>
                </a:solidFill>
                <a:latin typeface="Montserrat Medium" pitchFamily="2" charset="0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D4A7920-0CFD-D2CD-C82A-77415EA16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342" y="4179409"/>
              <a:ext cx="548639" cy="54863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8952BED-A0AE-508E-4393-C039B8FE38B9}"/>
              </a:ext>
            </a:extLst>
          </p:cNvPr>
          <p:cNvGrpSpPr/>
          <p:nvPr/>
        </p:nvGrpSpPr>
        <p:grpSpPr>
          <a:xfrm>
            <a:off x="6186267" y="3906931"/>
            <a:ext cx="5056632" cy="1987409"/>
            <a:chOff x="6186267" y="3906931"/>
            <a:chExt cx="5056632" cy="1987409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0C7F7A32-EC03-B744-5313-C4ABBA6A7727}"/>
                </a:ext>
              </a:extLst>
            </p:cNvPr>
            <p:cNvSpPr/>
            <p:nvPr/>
          </p:nvSpPr>
          <p:spPr>
            <a:xfrm>
              <a:off x="6186267" y="3906931"/>
              <a:ext cx="5056632" cy="1987409"/>
            </a:xfrm>
            <a:prstGeom prst="roundRect">
              <a:avLst>
                <a:gd name="adj" fmla="val 16668"/>
              </a:avLst>
            </a:prstGeom>
            <a:noFill/>
            <a:ln w="28575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35D3311-EB89-700D-4ACD-51900D0ADE04}"/>
                </a:ext>
              </a:extLst>
            </p:cNvPr>
            <p:cNvSpPr txBox="1"/>
            <p:nvPr/>
          </p:nvSpPr>
          <p:spPr>
            <a:xfrm>
              <a:off x="6289134" y="4859432"/>
              <a:ext cx="25722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>
                  <a:solidFill>
                    <a:schemeClr val="bg1"/>
                  </a:solidFill>
                  <a:latin typeface="Montserrat ExtraBold" pitchFamily="2" charset="0"/>
                </a:rPr>
                <a:t>R</a:t>
              </a:r>
              <a:r>
                <a:rPr lang="en-US" sz="2000" dirty="0" err="1">
                  <a:solidFill>
                    <a:schemeClr val="bg1"/>
                  </a:solidFill>
                  <a:latin typeface="Montserrat ExtraBold" pitchFamily="2" charset="0"/>
                </a:rPr>
                <a:t>esearch</a:t>
              </a:r>
              <a:endParaRPr lang="en-US" sz="2000" dirty="0">
                <a:solidFill>
                  <a:schemeClr val="bg1"/>
                </a:solidFill>
                <a:latin typeface="Montserrat ExtraBold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03FFFBB-9463-91B8-2D89-8D6D4E3B95AC}"/>
                </a:ext>
              </a:extLst>
            </p:cNvPr>
            <p:cNvSpPr txBox="1"/>
            <p:nvPr/>
          </p:nvSpPr>
          <p:spPr>
            <a:xfrm>
              <a:off x="6289134" y="5275871"/>
              <a:ext cx="49503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rgbClr val="94A3B8"/>
                  </a:solidFill>
                  <a:latin typeface="Montserrat Medium" pitchFamily="2" charset="0"/>
                </a:rPr>
                <a:t>Driving technological breakthroughs in AI, Deep Learning, and Embedded Systems for a self-reliant Bangladesh.</a:t>
              </a:r>
              <a:endParaRPr lang="en-US" sz="1200" dirty="0">
                <a:solidFill>
                  <a:srgbClr val="94A3B8"/>
                </a:solidFill>
                <a:latin typeface="Montserrat Medium" pitchFamily="2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038AD33-E79A-FEE5-8A65-1AB74B53A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81036" y="4165130"/>
              <a:ext cx="577195" cy="5771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011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3FA472-C895-6ABA-7F61-5B85BE52A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AECD6A0-15D6-B7F2-2F71-2AE4F2E1722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3533" y="-44245"/>
            <a:ext cx="13019066" cy="694649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141CF3E-420C-4BEE-2972-AF848DDAA050}"/>
              </a:ext>
            </a:extLst>
          </p:cNvPr>
          <p:cNvSpPr/>
          <p:nvPr/>
        </p:nvSpPr>
        <p:spPr>
          <a:xfrm>
            <a:off x="952500" y="1584038"/>
            <a:ext cx="429768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2633B5-C337-620E-44AA-954AF6F516B2}"/>
              </a:ext>
            </a:extLst>
          </p:cNvPr>
          <p:cNvSpPr txBox="1"/>
          <p:nvPr/>
        </p:nvSpPr>
        <p:spPr>
          <a:xfrm>
            <a:off x="854490" y="843976"/>
            <a:ext cx="71438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M</a:t>
            </a:r>
            <a:r>
              <a:rPr lang="en-US" sz="4400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ETHODOLOGY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6167E3-1AB9-5713-C458-E6B9B5DD31EF}"/>
              </a:ext>
            </a:extLst>
          </p:cNvPr>
          <p:cNvSpPr txBox="1"/>
          <p:nvPr/>
        </p:nvSpPr>
        <p:spPr>
          <a:xfrm>
            <a:off x="854490" y="1741525"/>
            <a:ext cx="103850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Montserrat Medium" pitchFamily="2" charset="0"/>
              </a:rPr>
              <a:t>The goal was to explore how Robo Tech Valley promotes robotics education, innovation, and </a:t>
            </a:r>
            <a:r>
              <a:rPr lang="en-US" dirty="0">
                <a:solidFill>
                  <a:schemeClr val="bg1"/>
                </a:solidFill>
                <a:latin typeface="Montserrat Medium" pitchFamily="2" charset="0"/>
              </a:rPr>
              <a:t>technical</a:t>
            </a:r>
            <a:r>
              <a:rPr lang="en-US" sz="2000" dirty="0">
                <a:solidFill>
                  <a:schemeClr val="bg1"/>
                </a:solidFill>
                <a:latin typeface="Montserrat Medium" pitchFamily="2" charset="0"/>
              </a:rPr>
              <a:t> skills in Bangladesh and beyond.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05E8CC-36E6-F1FD-2512-30C7CFA98BF4}"/>
              </a:ext>
            </a:extLst>
          </p:cNvPr>
          <p:cNvSpPr txBox="1"/>
          <p:nvPr/>
        </p:nvSpPr>
        <p:spPr>
          <a:xfrm>
            <a:off x="854490" y="2798105"/>
            <a:ext cx="3113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Topic Selection:</a:t>
            </a:r>
            <a:endParaRPr lang="en-US" sz="2800" dirty="0">
              <a:solidFill>
                <a:schemeClr val="bg1"/>
              </a:solidFill>
              <a:latin typeface="Roboto Flex ExtraBold" panose="02000000000000000000" pitchFamily="2" charset="0"/>
              <a:ea typeface="Roboto Flex ExtraBold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4A9CF0-FD65-E54F-EF90-A4295B1E2569}"/>
              </a:ext>
            </a:extLst>
          </p:cNvPr>
          <p:cNvSpPr txBox="1"/>
          <p:nvPr/>
        </p:nvSpPr>
        <p:spPr>
          <a:xfrm>
            <a:off x="854490" y="4668517"/>
            <a:ext cx="7143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Questionnaire Development:</a:t>
            </a:r>
            <a:endParaRPr lang="en-US" sz="2800" dirty="0">
              <a:solidFill>
                <a:schemeClr val="bg1"/>
              </a:solidFill>
              <a:latin typeface="Roboto Flex ExtraBold" panose="02000000000000000000" pitchFamily="2" charset="0"/>
              <a:ea typeface="Roboto Flex ExtraBold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6FCB8F-3A79-99E4-25BC-ED612AA3223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5097" y="3398935"/>
            <a:ext cx="2733382" cy="27333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03BDFE-18D5-C3F6-61FC-96B3B67747A8}"/>
              </a:ext>
            </a:extLst>
          </p:cNvPr>
          <p:cNvSpPr txBox="1"/>
          <p:nvPr/>
        </p:nvSpPr>
        <p:spPr>
          <a:xfrm>
            <a:off x="854490" y="3398935"/>
            <a:ext cx="7795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Montserrat Medium" pitchFamily="2" charset="0"/>
              </a:rPr>
              <a:t>Selected Robo Tech Valley as a case study to </a:t>
            </a:r>
            <a:r>
              <a:rPr lang="en-GB" dirty="0" err="1">
                <a:solidFill>
                  <a:schemeClr val="bg1"/>
                </a:solidFill>
                <a:latin typeface="Montserrat Medium" pitchFamily="2" charset="0"/>
              </a:rPr>
              <a:t>analyze</a:t>
            </a:r>
            <a:r>
              <a:rPr lang="en-GB" dirty="0">
                <a:solidFill>
                  <a:schemeClr val="bg1"/>
                </a:solidFill>
                <a:latin typeface="Montserrat Medium" pitchFamily="2" charset="0"/>
              </a:rPr>
              <a:t> its impact on the local robotics ecosystem and hands-on STEM education in Bangladesh.</a:t>
            </a:r>
            <a:endParaRPr lang="en-US" dirty="0">
              <a:solidFill>
                <a:schemeClr val="bg1"/>
              </a:solidFill>
              <a:latin typeface="Montserrat Medium" pitchFamily="2" charset="0"/>
              <a:ea typeface="Roboto Flex ExtraBold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DB4E8C-42D6-4D83-89DF-07EBED1C6CC3}"/>
              </a:ext>
            </a:extLst>
          </p:cNvPr>
          <p:cNvSpPr txBox="1"/>
          <p:nvPr/>
        </p:nvSpPr>
        <p:spPr>
          <a:xfrm>
            <a:off x="854490" y="5273962"/>
            <a:ext cx="7795648" cy="672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Designed a structured survey for students and tech enthusiasts to measure the effectiveness of Robo Tech Valley’s training kits and workshops.</a:t>
            </a:r>
            <a:endParaRPr lang="en-US" dirty="0">
              <a:solidFill>
                <a:schemeClr val="bg1"/>
              </a:solidFill>
              <a:latin typeface="Montserrat Medium" pitchFamily="2" charset="0"/>
              <a:ea typeface="Roboto Flex ExtraBold" panose="02000000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97ADA7-E788-05C0-5A87-723EF1736035}"/>
              </a:ext>
            </a:extLst>
          </p:cNvPr>
          <p:cNvSpPr/>
          <p:nvPr/>
        </p:nvSpPr>
        <p:spPr>
          <a:xfrm>
            <a:off x="952500" y="3268692"/>
            <a:ext cx="27432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3B8228-3DF1-986B-F26D-78F986938A90}"/>
              </a:ext>
            </a:extLst>
          </p:cNvPr>
          <p:cNvSpPr/>
          <p:nvPr/>
        </p:nvSpPr>
        <p:spPr>
          <a:xfrm>
            <a:off x="952500" y="5182212"/>
            <a:ext cx="484632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62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5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6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750"/>
                            </p:stCondLst>
                            <p:childTnLst>
                              <p:par>
                                <p:cTn id="2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750"/>
                            </p:stCondLst>
                            <p:childTnLst>
                              <p:par>
                                <p:cTn id="32" presetID="6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250"/>
                            </p:stCondLst>
                            <p:childTnLst>
                              <p:par>
                                <p:cTn id="3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80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10" grpId="0"/>
      <p:bldP spid="11" grpId="0"/>
      <p:bldP spid="12" grpId="0"/>
      <p:bldP spid="4" grpId="0"/>
      <p:bldP spid="6" grpId="0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11C1CF-5A87-4B18-2D92-3CBAF47B3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47EDA5-C260-0D10-6E4E-F25F5D9DF6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3533" y="-44245"/>
            <a:ext cx="13019066" cy="694649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BB347BE-1C6C-FABC-F2EC-54DB3C3C95E2}"/>
              </a:ext>
            </a:extLst>
          </p:cNvPr>
          <p:cNvSpPr/>
          <p:nvPr/>
        </p:nvSpPr>
        <p:spPr>
          <a:xfrm>
            <a:off x="1569720" y="1431638"/>
            <a:ext cx="905256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F5B5E8-5D2D-EE9F-E222-427605A67AF3}"/>
              </a:ext>
            </a:extLst>
          </p:cNvPr>
          <p:cNvSpPr txBox="1"/>
          <p:nvPr/>
        </p:nvSpPr>
        <p:spPr>
          <a:xfrm>
            <a:off x="1246072" y="691576"/>
            <a:ext cx="96998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Industry Visit at Robo Tech Valley</a:t>
            </a:r>
            <a:endParaRPr lang="en-US" sz="4400" dirty="0">
              <a:solidFill>
                <a:schemeClr val="bg1"/>
              </a:solidFill>
              <a:latin typeface="Roboto Flex ExtraBold" panose="02000000000000000000" pitchFamily="2" charset="0"/>
              <a:ea typeface="Roboto Flex ExtraBold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779AFA-C36E-1F8A-8A29-A0F2F3E61F39}"/>
              </a:ext>
            </a:extLst>
          </p:cNvPr>
          <p:cNvSpPr txBox="1"/>
          <p:nvPr/>
        </p:nvSpPr>
        <p:spPr>
          <a:xfrm>
            <a:off x="854490" y="1964250"/>
            <a:ext cx="103850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We Reviewed the Following Questions:</a:t>
            </a:r>
            <a:endParaRPr lang="en-US" sz="3200" dirty="0">
              <a:solidFill>
                <a:schemeClr val="bg1"/>
              </a:solidFill>
              <a:latin typeface="Roboto Flex ExtraBold" panose="02000000000000000000" pitchFamily="2" charset="0"/>
              <a:ea typeface="Roboto Flex ExtraBol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B738E6-82A0-F2BA-84FB-784516A80948}"/>
              </a:ext>
            </a:extLst>
          </p:cNvPr>
          <p:cNvSpPr txBox="1"/>
          <p:nvPr/>
        </p:nvSpPr>
        <p:spPr>
          <a:xfrm>
            <a:off x="854490" y="2750104"/>
            <a:ext cx="1038501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b="1" dirty="0">
                <a:solidFill>
                  <a:schemeClr val="bg1"/>
                </a:solidFill>
                <a:latin typeface="Montserrat Medium" pitchFamily="2" charset="0"/>
              </a:rPr>
              <a:t>System Architecture:</a:t>
            </a:r>
            <a:r>
              <a:rPr lang="en-GB" dirty="0">
                <a:solidFill>
                  <a:schemeClr val="bg1"/>
                </a:solidFill>
                <a:latin typeface="Montserrat Medium" pitchFamily="2" charset="0"/>
              </a:rPr>
              <a:t> What are the core hardware and software stacks used in your latest robotic units?</a:t>
            </a:r>
            <a:br>
              <a:rPr lang="en-GB" dirty="0">
                <a:solidFill>
                  <a:schemeClr val="bg1"/>
                </a:solidFill>
                <a:latin typeface="Montserrat Medium" pitchFamily="2" charset="0"/>
              </a:rPr>
            </a:br>
            <a:endParaRPr lang="en-GB" dirty="0">
              <a:solidFill>
                <a:schemeClr val="bg1"/>
              </a:solidFill>
              <a:latin typeface="Montserrat Medium" pitchFamily="2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b="1" dirty="0">
                <a:solidFill>
                  <a:schemeClr val="bg1"/>
                </a:solidFill>
                <a:latin typeface="Montserrat Medium" pitchFamily="2" charset="0"/>
              </a:rPr>
              <a:t>Navigation &amp; Sensing:</a:t>
            </a:r>
            <a:r>
              <a:rPr lang="en-GB" dirty="0">
                <a:solidFill>
                  <a:schemeClr val="bg1"/>
                </a:solidFill>
                <a:latin typeface="Montserrat Medium" pitchFamily="2" charset="0"/>
              </a:rPr>
              <a:t> How does the robot handle real-time obstacle avoidance in dynamic human environments?</a:t>
            </a:r>
            <a:br>
              <a:rPr lang="en-GB" dirty="0">
                <a:solidFill>
                  <a:schemeClr val="bg1"/>
                </a:solidFill>
                <a:latin typeface="Montserrat Medium" pitchFamily="2" charset="0"/>
              </a:rPr>
            </a:br>
            <a:endParaRPr lang="en-GB" dirty="0">
              <a:solidFill>
                <a:schemeClr val="bg1"/>
              </a:solidFill>
              <a:latin typeface="Montserrat Medium" pitchFamily="2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b="1" dirty="0">
                <a:solidFill>
                  <a:schemeClr val="bg1"/>
                </a:solidFill>
                <a:latin typeface="Montserrat Medium" pitchFamily="2" charset="0"/>
              </a:rPr>
              <a:t>End-to-End Latency:</a:t>
            </a:r>
            <a:r>
              <a:rPr lang="en-GB" dirty="0">
                <a:solidFill>
                  <a:schemeClr val="bg1"/>
                </a:solidFill>
                <a:latin typeface="Montserrat Medium" pitchFamily="2" charset="0"/>
              </a:rPr>
              <a:t> What is the typical communication latency between the central controller and the actuators?</a:t>
            </a:r>
            <a:br>
              <a:rPr lang="en-GB" dirty="0">
                <a:solidFill>
                  <a:schemeClr val="bg1"/>
                </a:solidFill>
                <a:latin typeface="Montserrat Medium" pitchFamily="2" charset="0"/>
              </a:rPr>
            </a:br>
            <a:endParaRPr lang="en-GB" dirty="0">
              <a:solidFill>
                <a:schemeClr val="bg1"/>
              </a:solidFill>
              <a:latin typeface="Montserrat Medium" pitchFamily="2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b="1" dirty="0">
                <a:solidFill>
                  <a:schemeClr val="bg1"/>
                </a:solidFill>
                <a:latin typeface="Montserrat Medium" pitchFamily="2" charset="0"/>
              </a:rPr>
              <a:t>AI Integration:</a:t>
            </a:r>
            <a:r>
              <a:rPr lang="en-GB" dirty="0">
                <a:solidFill>
                  <a:schemeClr val="bg1"/>
                </a:solidFill>
                <a:latin typeface="Montserrat Medium" pitchFamily="2" charset="0"/>
              </a:rPr>
              <a:t> To what extent is Machine Learning used for computer vision versus hard-coded algorithmic logic?</a:t>
            </a:r>
          </a:p>
        </p:txBody>
      </p:sp>
    </p:spTree>
    <p:extLst>
      <p:ext uri="{BB962C8B-B14F-4D97-AF65-F5344CB8AC3E}">
        <p14:creationId xmlns:p14="http://schemas.microsoft.com/office/powerpoint/2010/main" val="25875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7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34EC0E-62E7-788D-C690-DE195C4DC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570248-6B6D-5689-4A71-ACE917B39B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3533" y="-44245"/>
            <a:ext cx="13019066" cy="69464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E00B7F-E783-F86A-7D92-02CB2C249311}"/>
              </a:ext>
            </a:extLst>
          </p:cNvPr>
          <p:cNvSpPr txBox="1"/>
          <p:nvPr/>
        </p:nvSpPr>
        <p:spPr>
          <a:xfrm>
            <a:off x="929640" y="710626"/>
            <a:ext cx="103850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We Reviewed the Following Questions</a:t>
            </a:r>
            <a:endParaRPr lang="en-US" sz="3200" dirty="0">
              <a:solidFill>
                <a:schemeClr val="bg1"/>
              </a:solidFill>
              <a:latin typeface="Roboto Flex ExtraBold" panose="02000000000000000000" pitchFamily="2" charset="0"/>
              <a:ea typeface="Roboto Flex ExtraBol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0082C9-98FA-9B8D-EDE8-19710C1EF703}"/>
              </a:ext>
            </a:extLst>
          </p:cNvPr>
          <p:cNvSpPr txBox="1"/>
          <p:nvPr/>
        </p:nvSpPr>
        <p:spPr>
          <a:xfrm>
            <a:off x="854490" y="1490159"/>
            <a:ext cx="1038501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>
                <a:solidFill>
                  <a:schemeClr val="bg1"/>
                </a:solidFill>
                <a:latin typeface="Montserrat Medium" pitchFamily="2" charset="0"/>
              </a:rPr>
              <a:t>Safety Protocols:</a:t>
            </a:r>
            <a:r>
              <a:rPr lang="en-GB" dirty="0">
                <a:solidFill>
                  <a:schemeClr val="bg1"/>
                </a:solidFill>
                <a:latin typeface="Montserrat Medium" pitchFamily="2" charset="0"/>
              </a:rPr>
              <a:t> What fail-safe mechanisms are in place if a sensor or power system fails during operation?</a:t>
            </a:r>
            <a:br>
              <a:rPr lang="en-GB" dirty="0">
                <a:solidFill>
                  <a:schemeClr val="bg1"/>
                </a:solidFill>
                <a:latin typeface="Montserrat Medium" pitchFamily="2" charset="0"/>
              </a:rPr>
            </a:br>
            <a:endParaRPr lang="en-GB" dirty="0">
              <a:solidFill>
                <a:schemeClr val="bg1"/>
              </a:solidFill>
              <a:latin typeface="Montserrat Medium" pitchFamily="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>
                <a:solidFill>
                  <a:schemeClr val="bg1"/>
                </a:solidFill>
                <a:latin typeface="Montserrat Medium" pitchFamily="2" charset="0"/>
              </a:rPr>
              <a:t>Scalability:</a:t>
            </a:r>
            <a:r>
              <a:rPr lang="en-GB" dirty="0">
                <a:solidFill>
                  <a:schemeClr val="bg1"/>
                </a:solidFill>
                <a:latin typeface="Montserrat Medium" pitchFamily="2" charset="0"/>
              </a:rPr>
              <a:t> What are the biggest technical bottlenecks when moving from a prototype to mass production?</a:t>
            </a:r>
            <a:br>
              <a:rPr lang="en-GB" dirty="0">
                <a:solidFill>
                  <a:schemeClr val="bg1"/>
                </a:solidFill>
                <a:latin typeface="Montserrat Medium" pitchFamily="2" charset="0"/>
              </a:rPr>
            </a:br>
            <a:endParaRPr lang="en-GB" dirty="0">
              <a:solidFill>
                <a:schemeClr val="bg1"/>
              </a:solidFill>
              <a:latin typeface="Montserrat Medium" pitchFamily="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>
                <a:solidFill>
                  <a:schemeClr val="bg1"/>
                </a:solidFill>
                <a:latin typeface="Montserrat Medium" pitchFamily="2" charset="0"/>
              </a:rPr>
              <a:t>Power Efficiency:</a:t>
            </a:r>
            <a:r>
              <a:rPr lang="en-GB" dirty="0">
                <a:solidFill>
                  <a:schemeClr val="bg1"/>
                </a:solidFill>
                <a:latin typeface="Montserrat Medium" pitchFamily="2" charset="0"/>
              </a:rPr>
              <a:t> How do you optimize battery life for robots intended for 24/7 industrial use?</a:t>
            </a:r>
            <a:br>
              <a:rPr lang="en-GB" dirty="0">
                <a:solidFill>
                  <a:schemeClr val="bg1"/>
                </a:solidFill>
                <a:latin typeface="Montserrat Medium" pitchFamily="2" charset="0"/>
              </a:rPr>
            </a:br>
            <a:endParaRPr lang="en-GB" dirty="0">
              <a:solidFill>
                <a:schemeClr val="bg1"/>
              </a:solidFill>
              <a:latin typeface="Montserrat Medium" pitchFamily="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>
                <a:solidFill>
                  <a:schemeClr val="bg1"/>
                </a:solidFill>
                <a:latin typeface="Montserrat Medium" pitchFamily="2" charset="0"/>
              </a:rPr>
              <a:t>Maintenance:</a:t>
            </a:r>
            <a:r>
              <a:rPr lang="en-GB" dirty="0">
                <a:solidFill>
                  <a:schemeClr val="bg1"/>
                </a:solidFill>
                <a:latin typeface="Montserrat Medium" pitchFamily="2" charset="0"/>
              </a:rPr>
              <a:t> What is the MTBF (Mean Time Between Failures) for these systems under standard operating conditions?</a:t>
            </a:r>
            <a:br>
              <a:rPr lang="en-GB" dirty="0">
                <a:solidFill>
                  <a:schemeClr val="bg1"/>
                </a:solidFill>
                <a:latin typeface="Montserrat Medium" pitchFamily="2" charset="0"/>
              </a:rPr>
            </a:br>
            <a:endParaRPr lang="en-GB" dirty="0">
              <a:solidFill>
                <a:schemeClr val="bg1"/>
              </a:solidFill>
              <a:latin typeface="Montserrat Medium" pitchFamily="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>
                <a:solidFill>
                  <a:schemeClr val="bg1"/>
                </a:solidFill>
                <a:latin typeface="Montserrat Medium" pitchFamily="2" charset="0"/>
              </a:rPr>
              <a:t>Human-Robot Interaction (HRI):</a:t>
            </a:r>
            <a:r>
              <a:rPr lang="en-GB" dirty="0">
                <a:solidFill>
                  <a:schemeClr val="bg1"/>
                </a:solidFill>
                <a:latin typeface="Montserrat Medium" pitchFamily="2" charset="0"/>
              </a:rPr>
              <a:t> How is the UI/UX designed to allow non-technical staff to operate these robots?</a:t>
            </a:r>
            <a:br>
              <a:rPr lang="en-GB" dirty="0">
                <a:solidFill>
                  <a:schemeClr val="bg1"/>
                </a:solidFill>
                <a:latin typeface="Montserrat Medium" pitchFamily="2" charset="0"/>
              </a:rPr>
            </a:br>
            <a:endParaRPr lang="en-GB" dirty="0">
              <a:solidFill>
                <a:schemeClr val="bg1"/>
              </a:solidFill>
              <a:latin typeface="Montserrat Medium" pitchFamily="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>
                <a:solidFill>
                  <a:schemeClr val="bg1"/>
                </a:solidFill>
                <a:latin typeface="Montserrat Medium" pitchFamily="2" charset="0"/>
              </a:rPr>
              <a:t>Future Roadmap:</a:t>
            </a:r>
            <a:r>
              <a:rPr lang="en-GB" dirty="0">
                <a:solidFill>
                  <a:schemeClr val="bg1"/>
                </a:solidFill>
                <a:latin typeface="Montserrat Medium" pitchFamily="2" charset="0"/>
              </a:rPr>
              <a:t> How is the rise of Generative AI or 5G changing your approach to robotics development?</a:t>
            </a:r>
          </a:p>
        </p:txBody>
      </p:sp>
    </p:spTree>
    <p:extLst>
      <p:ext uri="{BB962C8B-B14F-4D97-AF65-F5344CB8AC3E}">
        <p14:creationId xmlns:p14="http://schemas.microsoft.com/office/powerpoint/2010/main" val="242307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C3B991-1968-F259-CD5A-1191EC0EB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90B08D-1473-886C-A543-89129A8A3A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3533" y="-44245"/>
            <a:ext cx="13019066" cy="694649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88A6A2D-0329-91CA-195B-F9642A8BC98F}"/>
              </a:ext>
            </a:extLst>
          </p:cNvPr>
          <p:cNvSpPr/>
          <p:nvPr/>
        </p:nvSpPr>
        <p:spPr>
          <a:xfrm>
            <a:off x="1569720" y="1431638"/>
            <a:ext cx="905256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7A0A83-C24F-48CC-8467-F9E22A4D9C8C}"/>
              </a:ext>
            </a:extLst>
          </p:cNvPr>
          <p:cNvSpPr txBox="1"/>
          <p:nvPr/>
        </p:nvSpPr>
        <p:spPr>
          <a:xfrm>
            <a:off x="1246072" y="691576"/>
            <a:ext cx="9699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Key Findings &amp; Strategic Insights</a:t>
            </a:r>
            <a:endParaRPr lang="en-US" sz="4000" dirty="0">
              <a:solidFill>
                <a:schemeClr val="bg1"/>
              </a:solidFill>
              <a:latin typeface="Roboto Flex ExtraBold" panose="02000000000000000000" pitchFamily="2" charset="0"/>
              <a:ea typeface="Roboto Flex ExtraBold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C52070-CC78-05F1-CEB0-A63E9A51F483}"/>
              </a:ext>
            </a:extLst>
          </p:cNvPr>
          <p:cNvSpPr txBox="1"/>
          <p:nvPr/>
        </p:nvSpPr>
        <p:spPr>
          <a:xfrm>
            <a:off x="854490" y="1918530"/>
            <a:ext cx="103850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Field Analysis Summary: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B85100-2A86-AAAC-BB65-FD84B4E9018D}"/>
              </a:ext>
            </a:extLst>
          </p:cNvPr>
          <p:cNvSpPr txBox="1"/>
          <p:nvPr/>
        </p:nvSpPr>
        <p:spPr>
          <a:xfrm>
            <a:off x="854490" y="2704384"/>
            <a:ext cx="1038501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b="1" dirty="0">
                <a:solidFill>
                  <a:schemeClr val="bg1"/>
                </a:solidFill>
                <a:latin typeface="Montserrat Medium" pitchFamily="2" charset="0"/>
              </a:rPr>
              <a:t>Hands-On Pedagogy:</a:t>
            </a:r>
            <a:r>
              <a:rPr lang="en-GB" sz="2000" dirty="0">
                <a:solidFill>
                  <a:schemeClr val="bg1"/>
                </a:solidFill>
                <a:latin typeface="Montserrat Medium" pitchFamily="2" charset="0"/>
              </a:rPr>
              <a:t> Shift from theory to project-based, practical robotics training.</a:t>
            </a:r>
            <a:br>
              <a:rPr lang="en-GB" sz="2000" dirty="0">
                <a:solidFill>
                  <a:schemeClr val="bg1"/>
                </a:solidFill>
                <a:latin typeface="Montserrat Medium" pitchFamily="2" charset="0"/>
              </a:rPr>
            </a:br>
            <a:endParaRPr lang="en-GB" sz="2000" dirty="0">
              <a:solidFill>
                <a:schemeClr val="bg1"/>
              </a:solidFill>
              <a:latin typeface="Montserrat Medium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b="1" dirty="0">
                <a:solidFill>
                  <a:schemeClr val="bg1"/>
                </a:solidFill>
                <a:latin typeface="Montserrat Medium" pitchFamily="2" charset="0"/>
              </a:rPr>
              <a:t>Universal Accessibility:</a:t>
            </a:r>
            <a:r>
              <a:rPr lang="en-GB" sz="2000" dirty="0">
                <a:solidFill>
                  <a:schemeClr val="bg1"/>
                </a:solidFill>
                <a:latin typeface="Montserrat Medium" pitchFamily="2" charset="0"/>
              </a:rPr>
              <a:t> Scalable curriculum designed for all age groups and skill levels.</a:t>
            </a:r>
            <a:br>
              <a:rPr lang="en-GB" sz="2000" dirty="0">
                <a:solidFill>
                  <a:schemeClr val="bg1"/>
                </a:solidFill>
                <a:latin typeface="Montserrat Medium" pitchFamily="2" charset="0"/>
              </a:rPr>
            </a:br>
            <a:endParaRPr lang="en-GB" sz="2000" dirty="0">
              <a:solidFill>
                <a:schemeClr val="bg1"/>
              </a:solidFill>
              <a:latin typeface="Montserrat Medium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b="1" dirty="0">
                <a:solidFill>
                  <a:schemeClr val="bg1"/>
                </a:solidFill>
                <a:latin typeface="Montserrat Medium" pitchFamily="2" charset="0"/>
              </a:rPr>
              <a:t>Localized Innovation:</a:t>
            </a:r>
            <a:r>
              <a:rPr lang="en-GB" sz="2000" dirty="0">
                <a:solidFill>
                  <a:schemeClr val="bg1"/>
                </a:solidFill>
                <a:latin typeface="Montserrat Medium" pitchFamily="2" charset="0"/>
              </a:rPr>
              <a:t> Emphasis on in-house R&amp;D and local hardware manufacturing.</a:t>
            </a:r>
            <a:br>
              <a:rPr lang="en-GB" sz="2000" dirty="0">
                <a:solidFill>
                  <a:schemeClr val="bg1"/>
                </a:solidFill>
                <a:latin typeface="Montserrat Medium" pitchFamily="2" charset="0"/>
              </a:rPr>
            </a:br>
            <a:endParaRPr lang="en-GB" sz="2000" dirty="0">
              <a:solidFill>
                <a:schemeClr val="bg1"/>
              </a:solidFill>
              <a:latin typeface="Montserrat Medium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b="1" dirty="0">
                <a:solidFill>
                  <a:schemeClr val="bg1"/>
                </a:solidFill>
                <a:latin typeface="Montserrat Medium" pitchFamily="2" charset="0"/>
              </a:rPr>
              <a:t>National Alignment:</a:t>
            </a:r>
            <a:r>
              <a:rPr lang="en-GB" sz="2000" dirty="0">
                <a:solidFill>
                  <a:schemeClr val="bg1"/>
                </a:solidFill>
                <a:latin typeface="Montserrat Medium" pitchFamily="2" charset="0"/>
              </a:rPr>
              <a:t> Active contribution to STEM growth and national tech objectives.</a:t>
            </a:r>
          </a:p>
        </p:txBody>
      </p:sp>
    </p:spTree>
    <p:extLst>
      <p:ext uri="{BB962C8B-B14F-4D97-AF65-F5344CB8AC3E}">
        <p14:creationId xmlns:p14="http://schemas.microsoft.com/office/powerpoint/2010/main" val="462666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6" presetClass="entr" presetSubtype="37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938A5A-367D-F68C-F949-9F045251E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0DD618-AA95-AC88-86D8-DCCB665271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3533" y="-44245"/>
            <a:ext cx="13019066" cy="69464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CE655A-B617-09AE-2AB8-90CBF3DB0382}"/>
              </a:ext>
            </a:extLst>
          </p:cNvPr>
          <p:cNvSpPr txBox="1"/>
          <p:nvPr/>
        </p:nvSpPr>
        <p:spPr>
          <a:xfrm>
            <a:off x="929640" y="710626"/>
            <a:ext cx="103850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Field Analysis Summary: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23B71B-A1CB-5DBD-7797-E0BE08948606}"/>
              </a:ext>
            </a:extLst>
          </p:cNvPr>
          <p:cNvSpPr txBox="1"/>
          <p:nvPr/>
        </p:nvSpPr>
        <p:spPr>
          <a:xfrm>
            <a:off x="854490" y="1452059"/>
            <a:ext cx="1038501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b="1" dirty="0">
                <a:solidFill>
                  <a:schemeClr val="bg1"/>
                </a:solidFill>
                <a:latin typeface="Montserrat Medium" pitchFamily="2" charset="0"/>
              </a:rPr>
              <a:t>Global Competitiveness:</a:t>
            </a:r>
            <a:r>
              <a:rPr lang="en-GB" sz="2000" dirty="0">
                <a:solidFill>
                  <a:schemeClr val="bg1"/>
                </a:solidFill>
                <a:latin typeface="Montserrat Medium" pitchFamily="2" charset="0"/>
              </a:rPr>
              <a:t> Recognition and awards on the international robotics stage.</a:t>
            </a:r>
            <a:br>
              <a:rPr lang="en-GB" sz="2000" dirty="0">
                <a:solidFill>
                  <a:schemeClr val="bg1"/>
                </a:solidFill>
                <a:latin typeface="Montserrat Medium" pitchFamily="2" charset="0"/>
              </a:rPr>
            </a:br>
            <a:endParaRPr lang="en-GB" sz="2000" dirty="0">
              <a:solidFill>
                <a:schemeClr val="bg1"/>
              </a:solidFill>
              <a:latin typeface="Montserrat Medium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b="1" dirty="0">
                <a:solidFill>
                  <a:schemeClr val="bg1"/>
                </a:solidFill>
                <a:latin typeface="Montserrat Medium" pitchFamily="2" charset="0"/>
              </a:rPr>
              <a:t>Workforce Readiness:</a:t>
            </a:r>
            <a:r>
              <a:rPr lang="en-GB" sz="2000" dirty="0">
                <a:solidFill>
                  <a:schemeClr val="bg1"/>
                </a:solidFill>
                <a:latin typeface="Montserrat Medium" pitchFamily="2" charset="0"/>
              </a:rPr>
              <a:t> Defined career pathways through specialized skill development.</a:t>
            </a:r>
            <a:br>
              <a:rPr lang="en-GB" sz="2000" dirty="0">
                <a:solidFill>
                  <a:schemeClr val="bg1"/>
                </a:solidFill>
                <a:latin typeface="Montserrat Medium" pitchFamily="2" charset="0"/>
              </a:rPr>
            </a:br>
            <a:endParaRPr lang="en-GB" sz="2000" dirty="0">
              <a:solidFill>
                <a:schemeClr val="bg1"/>
              </a:solidFill>
              <a:latin typeface="Montserrat Medium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b="1" dirty="0">
                <a:solidFill>
                  <a:schemeClr val="bg1"/>
                </a:solidFill>
                <a:latin typeface="Montserrat Medium" pitchFamily="2" charset="0"/>
              </a:rPr>
              <a:t>Tech Convergence:</a:t>
            </a:r>
            <a:r>
              <a:rPr lang="en-GB" sz="2000" dirty="0">
                <a:solidFill>
                  <a:schemeClr val="bg1"/>
                </a:solidFill>
                <a:latin typeface="Montserrat Medium" pitchFamily="2" charset="0"/>
              </a:rPr>
              <a:t> Seamless integration of AI, IoT, and Industry 4.0 standards.</a:t>
            </a:r>
            <a:br>
              <a:rPr lang="en-GB" sz="2000" dirty="0">
                <a:solidFill>
                  <a:schemeClr val="bg1"/>
                </a:solidFill>
                <a:latin typeface="Montserrat Medium" pitchFamily="2" charset="0"/>
              </a:rPr>
            </a:br>
            <a:endParaRPr lang="en-GB" sz="2000" dirty="0">
              <a:solidFill>
                <a:schemeClr val="bg1"/>
              </a:solidFill>
              <a:latin typeface="Montserrat Medium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b="1" dirty="0">
                <a:solidFill>
                  <a:schemeClr val="bg1"/>
                </a:solidFill>
                <a:latin typeface="Montserrat Medium" pitchFamily="2" charset="0"/>
              </a:rPr>
              <a:t>Ecosystem Building:</a:t>
            </a:r>
            <a:r>
              <a:rPr lang="en-GB" sz="2000" dirty="0">
                <a:solidFill>
                  <a:schemeClr val="bg1"/>
                </a:solidFill>
                <a:latin typeface="Montserrat Medium" pitchFamily="2" charset="0"/>
              </a:rPr>
              <a:t> Cultivating a strong, collaborative robotics community.</a:t>
            </a:r>
            <a:br>
              <a:rPr lang="en-GB" sz="2000" dirty="0">
                <a:solidFill>
                  <a:schemeClr val="bg1"/>
                </a:solidFill>
                <a:latin typeface="Montserrat Medium" pitchFamily="2" charset="0"/>
              </a:rPr>
            </a:br>
            <a:endParaRPr lang="en-GB" sz="2000" dirty="0">
              <a:solidFill>
                <a:schemeClr val="bg1"/>
              </a:solidFill>
              <a:latin typeface="Montserrat Medium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b="1" dirty="0">
                <a:solidFill>
                  <a:schemeClr val="bg1"/>
                </a:solidFill>
                <a:latin typeface="Montserrat Medium" pitchFamily="2" charset="0"/>
              </a:rPr>
              <a:t>Academic Synergy:</a:t>
            </a:r>
            <a:r>
              <a:rPr lang="en-GB" sz="2000" dirty="0">
                <a:solidFill>
                  <a:schemeClr val="bg1"/>
                </a:solidFill>
                <a:latin typeface="Montserrat Medium" pitchFamily="2" charset="0"/>
              </a:rPr>
              <a:t> Strategic partnerships with schools and universities for talent pipelines.</a:t>
            </a:r>
            <a:br>
              <a:rPr lang="en-GB" sz="2000" dirty="0">
                <a:solidFill>
                  <a:schemeClr val="bg1"/>
                </a:solidFill>
                <a:latin typeface="Montserrat Medium" pitchFamily="2" charset="0"/>
              </a:rPr>
            </a:br>
            <a:endParaRPr lang="en-GB" sz="2000" dirty="0">
              <a:solidFill>
                <a:schemeClr val="bg1"/>
              </a:solidFill>
              <a:latin typeface="Montserrat Medium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b="1" dirty="0">
                <a:solidFill>
                  <a:schemeClr val="bg1"/>
                </a:solidFill>
                <a:latin typeface="Montserrat Medium" pitchFamily="2" charset="0"/>
              </a:rPr>
              <a:t>Leadership Incubation:</a:t>
            </a:r>
            <a:r>
              <a:rPr lang="en-GB" sz="2000" dirty="0">
                <a:solidFill>
                  <a:schemeClr val="bg1"/>
                </a:solidFill>
                <a:latin typeface="Montserrat Medium" pitchFamily="2" charset="0"/>
              </a:rPr>
              <a:t> Structured mentorship to build the next generation of tech leaders.</a:t>
            </a:r>
            <a:br>
              <a:rPr lang="en-GB" sz="2000" dirty="0">
                <a:solidFill>
                  <a:schemeClr val="bg1"/>
                </a:solidFill>
                <a:latin typeface="Montserrat Medium" pitchFamily="2" charset="0"/>
              </a:rPr>
            </a:br>
            <a:endParaRPr lang="en-GB" sz="2000" dirty="0">
              <a:solidFill>
                <a:schemeClr val="bg1"/>
              </a:solidFill>
              <a:latin typeface="Montserrat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75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AA0063-D84E-E066-6A17-7B13B346F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7DA2024F-B861-F544-8177-C02C00DEE35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3533" y="-44245"/>
            <a:ext cx="13019066" cy="694649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116850A-6A96-F28C-F7F0-C0BC5C13443F}"/>
              </a:ext>
            </a:extLst>
          </p:cNvPr>
          <p:cNvSpPr/>
          <p:nvPr/>
        </p:nvSpPr>
        <p:spPr>
          <a:xfrm>
            <a:off x="0" y="0"/>
            <a:ext cx="12192000" cy="18950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09CB95-A1B7-F7CA-2A04-AFD2FEC230A3}"/>
              </a:ext>
            </a:extLst>
          </p:cNvPr>
          <p:cNvSpPr txBox="1"/>
          <p:nvPr/>
        </p:nvSpPr>
        <p:spPr>
          <a:xfrm>
            <a:off x="762000" y="571500"/>
            <a:ext cx="103850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RESEARCH &amp; FIELD Objectives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685936-C646-A6EE-222B-AC59DDADC492}"/>
              </a:ext>
            </a:extLst>
          </p:cNvPr>
          <p:cNvSpPr txBox="1"/>
          <p:nvPr/>
        </p:nvSpPr>
        <p:spPr>
          <a:xfrm>
            <a:off x="762000" y="1122045"/>
            <a:ext cx="103850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38BDF8"/>
                </a:solidFill>
                <a:latin typeface="Montserrat Medium" pitchFamily="2" charset="0"/>
                <a:ea typeface="Roboto Flex ExtraBold" panose="02000000000000000000" pitchFamily="2" charset="0"/>
              </a:rPr>
              <a:t>Company Visit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6FEEB4-44E0-950F-BCD9-6114DA3D06A1}"/>
              </a:ext>
            </a:extLst>
          </p:cNvPr>
          <p:cNvSpPr/>
          <p:nvPr/>
        </p:nvSpPr>
        <p:spPr>
          <a:xfrm>
            <a:off x="6086475" y="2617791"/>
            <a:ext cx="0" cy="3474720"/>
          </a:xfrm>
          <a:prstGeom prst="rect">
            <a:avLst/>
          </a:prstGeom>
          <a:noFill/>
          <a:ln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100D16-927F-B2BF-884A-5A90F80732D6}"/>
              </a:ext>
            </a:extLst>
          </p:cNvPr>
          <p:cNvSpPr txBox="1"/>
          <p:nvPr/>
        </p:nvSpPr>
        <p:spPr>
          <a:xfrm>
            <a:off x="890587" y="2664559"/>
            <a:ext cx="42862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Core Objective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2958CC-7A5C-8D30-DFCB-72CBFF921A0C}"/>
              </a:ext>
            </a:extLst>
          </p:cNvPr>
          <p:cNvSpPr txBox="1"/>
          <p:nvPr/>
        </p:nvSpPr>
        <p:spPr>
          <a:xfrm>
            <a:off x="762000" y="3576070"/>
            <a:ext cx="4667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Industry vs. Service Robotics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1C14A1-0F5F-1C17-B314-5CE3B822319C}"/>
              </a:ext>
            </a:extLst>
          </p:cNvPr>
          <p:cNvSpPr txBox="1"/>
          <p:nvPr/>
        </p:nvSpPr>
        <p:spPr>
          <a:xfrm>
            <a:off x="762000" y="4070064"/>
            <a:ext cx="48252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dirty="0">
                <a:solidFill>
                  <a:schemeClr val="bg1"/>
                </a:solidFill>
                <a:latin typeface="Montserrat Medium" pitchFamily="2" charset="0"/>
              </a:rPr>
              <a:t>Identified the operational differences between heavy-duty industrial arms and assistive service robots.</a:t>
            </a:r>
            <a:endParaRPr lang="en-US" sz="2000" dirty="0">
              <a:solidFill>
                <a:schemeClr val="bg1"/>
              </a:solidFill>
              <a:latin typeface="Montserrat Medium" pitchFamily="2" charset="0"/>
              <a:ea typeface="Roboto Flex ExtraBold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1FE3BC-A510-70C6-FA00-A0C9FDDC3650}"/>
              </a:ext>
            </a:extLst>
          </p:cNvPr>
          <p:cNvSpPr txBox="1"/>
          <p:nvPr/>
        </p:nvSpPr>
        <p:spPr>
          <a:xfrm>
            <a:off x="7015163" y="2664559"/>
            <a:ext cx="42862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K</a:t>
            </a:r>
            <a:r>
              <a:rPr lang="en-US" sz="3200" dirty="0" err="1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ey</a:t>
            </a:r>
            <a:r>
              <a:rPr lang="en-US" sz="3200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 Findings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927DC0-5ECB-7EC9-25FD-7F1A5C350E3C}"/>
              </a:ext>
            </a:extLst>
          </p:cNvPr>
          <p:cNvSpPr txBox="1"/>
          <p:nvPr/>
        </p:nvSpPr>
        <p:spPr>
          <a:xfrm>
            <a:off x="6762750" y="3611316"/>
            <a:ext cx="46672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Montserrat Medium" pitchFamily="2" charset="0"/>
              </a:rPr>
              <a:t>1. </a:t>
            </a:r>
            <a:r>
              <a:rPr lang="en-GB" b="1" dirty="0">
                <a:solidFill>
                  <a:schemeClr val="bg1"/>
                </a:solidFill>
                <a:latin typeface="Montserrat Medium" pitchFamily="2" charset="0"/>
              </a:rPr>
              <a:t>Operational Logic:</a:t>
            </a:r>
            <a:r>
              <a:rPr lang="en-GB" dirty="0">
                <a:solidFill>
                  <a:schemeClr val="bg1"/>
                </a:solidFill>
                <a:latin typeface="Montserrat Medium" pitchFamily="2" charset="0"/>
              </a:rPr>
              <a:t> How robots automate repetitive tasks. </a:t>
            </a:r>
            <a:br>
              <a:rPr lang="en-GB" dirty="0">
                <a:solidFill>
                  <a:schemeClr val="bg1"/>
                </a:solidFill>
                <a:latin typeface="Montserrat Medium" pitchFamily="2" charset="0"/>
              </a:rPr>
            </a:br>
            <a:br>
              <a:rPr lang="en-GB" dirty="0">
                <a:solidFill>
                  <a:schemeClr val="bg1"/>
                </a:solidFill>
                <a:latin typeface="Montserrat Medium" pitchFamily="2" charset="0"/>
              </a:rPr>
            </a:br>
            <a:r>
              <a:rPr lang="en-GB" dirty="0">
                <a:solidFill>
                  <a:schemeClr val="bg1"/>
                </a:solidFill>
                <a:latin typeface="Montserrat Medium" pitchFamily="2" charset="0"/>
              </a:rPr>
              <a:t>2. </a:t>
            </a:r>
            <a:r>
              <a:rPr lang="en-GB" b="1" dirty="0">
                <a:solidFill>
                  <a:schemeClr val="bg1"/>
                </a:solidFill>
                <a:latin typeface="Montserrat Medium" pitchFamily="2" charset="0"/>
              </a:rPr>
              <a:t>Hardware Integration:</a:t>
            </a:r>
            <a:r>
              <a:rPr lang="en-GB" dirty="0">
                <a:solidFill>
                  <a:schemeClr val="bg1"/>
                </a:solidFill>
                <a:latin typeface="Montserrat Medium" pitchFamily="2" charset="0"/>
              </a:rPr>
              <a:t> Sensors and motor synchronization.</a:t>
            </a:r>
            <a:br>
              <a:rPr lang="en-GB" dirty="0">
                <a:solidFill>
                  <a:schemeClr val="bg1"/>
                </a:solidFill>
                <a:latin typeface="Montserrat Medium" pitchFamily="2" charset="0"/>
              </a:rPr>
            </a:br>
            <a:br>
              <a:rPr lang="en-GB" dirty="0">
                <a:solidFill>
                  <a:schemeClr val="bg1"/>
                </a:solidFill>
                <a:latin typeface="Montserrat Medium" pitchFamily="2" charset="0"/>
              </a:rPr>
            </a:br>
            <a:r>
              <a:rPr lang="en-GB" dirty="0">
                <a:solidFill>
                  <a:schemeClr val="bg1"/>
                </a:solidFill>
                <a:latin typeface="Montserrat Medium" pitchFamily="2" charset="0"/>
              </a:rPr>
              <a:t>3. </a:t>
            </a:r>
            <a:r>
              <a:rPr lang="en-GB" b="1" dirty="0">
                <a:solidFill>
                  <a:schemeClr val="bg1"/>
                </a:solidFill>
                <a:latin typeface="Montserrat Medium" pitchFamily="2" charset="0"/>
              </a:rPr>
              <a:t>Future Scalability:</a:t>
            </a:r>
            <a:r>
              <a:rPr lang="en-GB" dirty="0">
                <a:solidFill>
                  <a:schemeClr val="bg1"/>
                </a:solidFill>
                <a:latin typeface="Montserrat Medium" pitchFamily="2" charset="0"/>
              </a:rPr>
              <a:t> Potential for Bangladesh's tech sector.</a:t>
            </a:r>
            <a:endParaRPr lang="en-US" dirty="0">
              <a:solidFill>
                <a:schemeClr val="bg1"/>
              </a:solidFill>
              <a:latin typeface="Montserrat Medium" pitchFamily="2" charset="0"/>
              <a:ea typeface="Roboto Flex ExtraBold" panose="02000000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696FFE-72BE-983F-2C26-5BC96E30197A}"/>
              </a:ext>
            </a:extLst>
          </p:cNvPr>
          <p:cNvSpPr/>
          <p:nvPr/>
        </p:nvSpPr>
        <p:spPr>
          <a:xfrm rot="16200000">
            <a:off x="3024187" y="1502449"/>
            <a:ext cx="19050" cy="3474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902E10-BCA5-A32A-3F67-C7D80A26C797}"/>
              </a:ext>
            </a:extLst>
          </p:cNvPr>
          <p:cNvSpPr/>
          <p:nvPr/>
        </p:nvSpPr>
        <p:spPr>
          <a:xfrm rot="16200000">
            <a:off x="9148763" y="1502449"/>
            <a:ext cx="19050" cy="3474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720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37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25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250"/>
                            </p:stCondLst>
                            <p:childTnLst>
                              <p:par>
                                <p:cTn id="30" presetID="16" presetClass="entr" presetSubtype="4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37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3" grpId="0" animBg="1"/>
      <p:bldP spid="5" grpId="0"/>
      <p:bldP spid="9" grpId="0"/>
      <p:bldP spid="12" grpId="0"/>
      <p:bldP spid="16" grpId="0"/>
      <p:bldP spid="17" grpId="0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A3F582-6996-354F-9885-22B8C576E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84F40237-FDFA-93D5-534A-A70B20A07C1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" t="7166" r="136" b="19249"/>
          <a:stretch>
            <a:fillRect/>
          </a:stretch>
        </p:blipFill>
        <p:spPr>
          <a:xfrm>
            <a:off x="4632472" y="1520310"/>
            <a:ext cx="2890356" cy="2818227"/>
          </a:xfrm>
          <a:custGeom>
            <a:avLst/>
            <a:gdLst>
              <a:gd name="csX0" fmla="*/ 469714 w 2890356"/>
              <a:gd name="csY0" fmla="*/ 0 h 2818227"/>
              <a:gd name="csX1" fmla="*/ 2420642 w 2890356"/>
              <a:gd name="csY1" fmla="*/ 0 h 2818227"/>
              <a:gd name="csX2" fmla="*/ 2890356 w 2890356"/>
              <a:gd name="csY2" fmla="*/ 469714 h 2818227"/>
              <a:gd name="csX3" fmla="*/ 2890356 w 2890356"/>
              <a:gd name="csY3" fmla="*/ 2348513 h 2818227"/>
              <a:gd name="csX4" fmla="*/ 2420642 w 2890356"/>
              <a:gd name="csY4" fmla="*/ 2818227 h 2818227"/>
              <a:gd name="csX5" fmla="*/ 469714 w 2890356"/>
              <a:gd name="csY5" fmla="*/ 2818227 h 2818227"/>
              <a:gd name="csX6" fmla="*/ 0 w 2890356"/>
              <a:gd name="csY6" fmla="*/ 2348513 h 2818227"/>
              <a:gd name="csX7" fmla="*/ 0 w 2890356"/>
              <a:gd name="csY7" fmla="*/ 469714 h 2818227"/>
              <a:gd name="csX8" fmla="*/ 469714 w 2890356"/>
              <a:gd name="csY8" fmla="*/ 0 h 2818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90356" h="2818227">
                <a:moveTo>
                  <a:pt x="469714" y="0"/>
                </a:moveTo>
                <a:lnTo>
                  <a:pt x="2420642" y="0"/>
                </a:lnTo>
                <a:cubicBezTo>
                  <a:pt x="2680058" y="0"/>
                  <a:pt x="2890356" y="210298"/>
                  <a:pt x="2890356" y="469714"/>
                </a:cubicBezTo>
                <a:lnTo>
                  <a:pt x="2890356" y="2348513"/>
                </a:lnTo>
                <a:cubicBezTo>
                  <a:pt x="2890356" y="2607929"/>
                  <a:pt x="2680058" y="2818227"/>
                  <a:pt x="2420642" y="2818227"/>
                </a:cubicBezTo>
                <a:lnTo>
                  <a:pt x="469714" y="2818227"/>
                </a:lnTo>
                <a:cubicBezTo>
                  <a:pt x="210298" y="2818227"/>
                  <a:pt x="0" y="2607929"/>
                  <a:pt x="0" y="2348513"/>
                </a:cubicBezTo>
                <a:lnTo>
                  <a:pt x="0" y="469714"/>
                </a:lnTo>
                <a:cubicBezTo>
                  <a:pt x="0" y="210298"/>
                  <a:pt x="210298" y="0"/>
                  <a:pt x="469714" y="0"/>
                </a:cubicBez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52BF4B-D28C-1A9E-5FF2-B111891351B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3533" y="-44245"/>
            <a:ext cx="13019066" cy="69464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DF81CA6-B43F-E5F8-DC32-EE854955057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6" t="28440" r="5411" b="12043"/>
          <a:stretch>
            <a:fillRect/>
          </a:stretch>
        </p:blipFill>
        <p:spPr>
          <a:xfrm>
            <a:off x="4632472" y="4531202"/>
            <a:ext cx="2890356" cy="1609042"/>
          </a:xfrm>
          <a:custGeom>
            <a:avLst/>
            <a:gdLst>
              <a:gd name="csX0" fmla="*/ 268179 w 2890356"/>
              <a:gd name="csY0" fmla="*/ 0 h 1609042"/>
              <a:gd name="csX1" fmla="*/ 2622177 w 2890356"/>
              <a:gd name="csY1" fmla="*/ 0 h 1609042"/>
              <a:gd name="csX2" fmla="*/ 2890356 w 2890356"/>
              <a:gd name="csY2" fmla="*/ 268179 h 1609042"/>
              <a:gd name="csX3" fmla="*/ 2890356 w 2890356"/>
              <a:gd name="csY3" fmla="*/ 1340863 h 1609042"/>
              <a:gd name="csX4" fmla="*/ 2622177 w 2890356"/>
              <a:gd name="csY4" fmla="*/ 1609042 h 1609042"/>
              <a:gd name="csX5" fmla="*/ 268179 w 2890356"/>
              <a:gd name="csY5" fmla="*/ 1609042 h 1609042"/>
              <a:gd name="csX6" fmla="*/ 0 w 2890356"/>
              <a:gd name="csY6" fmla="*/ 1340863 h 1609042"/>
              <a:gd name="csX7" fmla="*/ 0 w 2890356"/>
              <a:gd name="csY7" fmla="*/ 268179 h 1609042"/>
              <a:gd name="csX8" fmla="*/ 268179 w 2890356"/>
              <a:gd name="csY8" fmla="*/ 0 h 16090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90356" h="1609042">
                <a:moveTo>
                  <a:pt x="268179" y="0"/>
                </a:moveTo>
                <a:lnTo>
                  <a:pt x="2622177" y="0"/>
                </a:lnTo>
                <a:cubicBezTo>
                  <a:pt x="2770288" y="0"/>
                  <a:pt x="2890356" y="120068"/>
                  <a:pt x="2890356" y="268179"/>
                </a:cubicBezTo>
                <a:lnTo>
                  <a:pt x="2890356" y="1340863"/>
                </a:lnTo>
                <a:cubicBezTo>
                  <a:pt x="2890356" y="1488974"/>
                  <a:pt x="2770288" y="1609042"/>
                  <a:pt x="2622177" y="1609042"/>
                </a:cubicBezTo>
                <a:lnTo>
                  <a:pt x="268179" y="1609042"/>
                </a:lnTo>
                <a:cubicBezTo>
                  <a:pt x="120068" y="1609042"/>
                  <a:pt x="0" y="1488974"/>
                  <a:pt x="0" y="1340863"/>
                </a:cubicBezTo>
                <a:lnTo>
                  <a:pt x="0" y="268179"/>
                </a:lnTo>
                <a:cubicBezTo>
                  <a:pt x="0" y="120068"/>
                  <a:pt x="120068" y="0"/>
                  <a:pt x="268179" y="0"/>
                </a:cubicBezTo>
                <a:close/>
              </a:path>
            </a:pathLst>
          </a:cu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E39118D-35B9-1488-EFE8-AA319E52178D}"/>
              </a:ext>
            </a:extLst>
          </p:cNvPr>
          <p:cNvSpPr txBox="1"/>
          <p:nvPr/>
        </p:nvSpPr>
        <p:spPr>
          <a:xfrm>
            <a:off x="903495" y="571500"/>
            <a:ext cx="103850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Technical Execution &amp; Prototypes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B76912D-45B1-1153-9360-E2709233CB20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5" t="24796" r="8271" b="95"/>
          <a:stretch>
            <a:fillRect/>
          </a:stretch>
        </p:blipFill>
        <p:spPr>
          <a:xfrm>
            <a:off x="762001" y="1524001"/>
            <a:ext cx="3663405" cy="4616243"/>
          </a:xfrm>
          <a:custGeom>
            <a:avLst/>
            <a:gdLst>
              <a:gd name="csX0" fmla="*/ 610580 w 3663405"/>
              <a:gd name="csY0" fmla="*/ 0 h 4616243"/>
              <a:gd name="csX1" fmla="*/ 3052825 w 3663405"/>
              <a:gd name="csY1" fmla="*/ 0 h 4616243"/>
              <a:gd name="csX2" fmla="*/ 3663405 w 3663405"/>
              <a:gd name="csY2" fmla="*/ 610580 h 4616243"/>
              <a:gd name="csX3" fmla="*/ 3663405 w 3663405"/>
              <a:gd name="csY3" fmla="*/ 4005663 h 4616243"/>
              <a:gd name="csX4" fmla="*/ 3052825 w 3663405"/>
              <a:gd name="csY4" fmla="*/ 4616243 h 4616243"/>
              <a:gd name="csX5" fmla="*/ 610580 w 3663405"/>
              <a:gd name="csY5" fmla="*/ 4616243 h 4616243"/>
              <a:gd name="csX6" fmla="*/ 0 w 3663405"/>
              <a:gd name="csY6" fmla="*/ 4005663 h 4616243"/>
              <a:gd name="csX7" fmla="*/ 0 w 3663405"/>
              <a:gd name="csY7" fmla="*/ 610580 h 4616243"/>
              <a:gd name="csX8" fmla="*/ 610580 w 3663405"/>
              <a:gd name="csY8" fmla="*/ 0 h 46162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663405" h="4616243">
                <a:moveTo>
                  <a:pt x="610580" y="0"/>
                </a:moveTo>
                <a:lnTo>
                  <a:pt x="3052825" y="0"/>
                </a:lnTo>
                <a:cubicBezTo>
                  <a:pt x="3390039" y="0"/>
                  <a:pt x="3663405" y="273366"/>
                  <a:pt x="3663405" y="610580"/>
                </a:cubicBezTo>
                <a:lnTo>
                  <a:pt x="3663405" y="4005663"/>
                </a:lnTo>
                <a:cubicBezTo>
                  <a:pt x="3663405" y="4342877"/>
                  <a:pt x="3390039" y="4616243"/>
                  <a:pt x="3052825" y="4616243"/>
                </a:cubicBezTo>
                <a:lnTo>
                  <a:pt x="610580" y="4616243"/>
                </a:lnTo>
                <a:cubicBezTo>
                  <a:pt x="273366" y="4616243"/>
                  <a:pt x="0" y="4342877"/>
                  <a:pt x="0" y="4005663"/>
                </a:cubicBezTo>
                <a:lnTo>
                  <a:pt x="0" y="610580"/>
                </a:lnTo>
                <a:cubicBezTo>
                  <a:pt x="0" y="273366"/>
                  <a:pt x="273366" y="0"/>
                  <a:pt x="610580" y="0"/>
                </a:cubicBezTo>
                <a:close/>
              </a:path>
            </a:pathLst>
          </a:cu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432E6B6-184A-1BBA-A1D2-9CFA8E3E3FB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3" t="18832" r="9021" b="1762"/>
          <a:stretch>
            <a:fillRect/>
          </a:stretch>
        </p:blipFill>
        <p:spPr>
          <a:xfrm>
            <a:off x="7713327" y="1520308"/>
            <a:ext cx="3675426" cy="2146753"/>
          </a:xfrm>
          <a:custGeom>
            <a:avLst/>
            <a:gdLst>
              <a:gd name="csX0" fmla="*/ 357799 w 3675426"/>
              <a:gd name="csY0" fmla="*/ 0 h 2146753"/>
              <a:gd name="csX1" fmla="*/ 3317627 w 3675426"/>
              <a:gd name="csY1" fmla="*/ 0 h 2146753"/>
              <a:gd name="csX2" fmla="*/ 3675426 w 3675426"/>
              <a:gd name="csY2" fmla="*/ 357799 h 2146753"/>
              <a:gd name="csX3" fmla="*/ 3675426 w 3675426"/>
              <a:gd name="csY3" fmla="*/ 1788954 h 2146753"/>
              <a:gd name="csX4" fmla="*/ 3317627 w 3675426"/>
              <a:gd name="csY4" fmla="*/ 2146753 h 2146753"/>
              <a:gd name="csX5" fmla="*/ 357799 w 3675426"/>
              <a:gd name="csY5" fmla="*/ 2146753 h 2146753"/>
              <a:gd name="csX6" fmla="*/ 0 w 3675426"/>
              <a:gd name="csY6" fmla="*/ 1788954 h 2146753"/>
              <a:gd name="csX7" fmla="*/ 0 w 3675426"/>
              <a:gd name="csY7" fmla="*/ 357799 h 2146753"/>
              <a:gd name="csX8" fmla="*/ 357799 w 3675426"/>
              <a:gd name="csY8" fmla="*/ 0 h 21467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675426" h="2146753">
                <a:moveTo>
                  <a:pt x="357799" y="0"/>
                </a:moveTo>
                <a:lnTo>
                  <a:pt x="3317627" y="0"/>
                </a:lnTo>
                <a:cubicBezTo>
                  <a:pt x="3515234" y="0"/>
                  <a:pt x="3675426" y="160192"/>
                  <a:pt x="3675426" y="357799"/>
                </a:cubicBezTo>
                <a:lnTo>
                  <a:pt x="3675426" y="1788954"/>
                </a:lnTo>
                <a:cubicBezTo>
                  <a:pt x="3675426" y="1986561"/>
                  <a:pt x="3515234" y="2146753"/>
                  <a:pt x="3317627" y="2146753"/>
                </a:cubicBezTo>
                <a:lnTo>
                  <a:pt x="357799" y="2146753"/>
                </a:lnTo>
                <a:cubicBezTo>
                  <a:pt x="160192" y="2146753"/>
                  <a:pt x="0" y="1986561"/>
                  <a:pt x="0" y="1788954"/>
                </a:cubicBezTo>
                <a:lnTo>
                  <a:pt x="0" y="357799"/>
                </a:lnTo>
                <a:cubicBezTo>
                  <a:pt x="0" y="160192"/>
                  <a:pt x="160192" y="0"/>
                  <a:pt x="357799" y="0"/>
                </a:cubicBezTo>
                <a:close/>
              </a:path>
            </a:pathLst>
          </a:cu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ED500F9-1A6F-E2FC-4B5A-CF64B79CEA08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43" r="3013" b="5598"/>
          <a:stretch>
            <a:fillRect/>
          </a:stretch>
        </p:blipFill>
        <p:spPr>
          <a:xfrm>
            <a:off x="7717281" y="3870478"/>
            <a:ext cx="3671473" cy="2269765"/>
          </a:xfrm>
          <a:custGeom>
            <a:avLst/>
            <a:gdLst>
              <a:gd name="csX0" fmla="*/ 374349 w 3671473"/>
              <a:gd name="csY0" fmla="*/ 0 h 2269765"/>
              <a:gd name="csX1" fmla="*/ 3293171 w 3671473"/>
              <a:gd name="csY1" fmla="*/ 0 h 2269765"/>
              <a:gd name="csX2" fmla="*/ 3671473 w 3671473"/>
              <a:gd name="csY2" fmla="*/ 378302 h 2269765"/>
              <a:gd name="csX3" fmla="*/ 3671473 w 3671473"/>
              <a:gd name="csY3" fmla="*/ 1891463 h 2269765"/>
              <a:gd name="csX4" fmla="*/ 3293171 w 3671473"/>
              <a:gd name="csY4" fmla="*/ 2269765 h 2269765"/>
              <a:gd name="csX5" fmla="*/ 374349 w 3671473"/>
              <a:gd name="csY5" fmla="*/ 2269765 h 2269765"/>
              <a:gd name="csX6" fmla="*/ 3733 w 3671473"/>
              <a:gd name="csY6" fmla="*/ 1967704 h 2269765"/>
              <a:gd name="csX7" fmla="*/ 0 w 3671473"/>
              <a:gd name="csY7" fmla="*/ 1930676 h 2269765"/>
              <a:gd name="csX8" fmla="*/ 0 w 3671473"/>
              <a:gd name="csY8" fmla="*/ 339089 h 2269765"/>
              <a:gd name="csX9" fmla="*/ 3733 w 3671473"/>
              <a:gd name="csY9" fmla="*/ 302061 h 2269765"/>
              <a:gd name="csX10" fmla="*/ 374349 w 3671473"/>
              <a:gd name="csY10" fmla="*/ 0 h 22697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671473" h="2269765">
                <a:moveTo>
                  <a:pt x="374349" y="0"/>
                </a:moveTo>
                <a:lnTo>
                  <a:pt x="3293171" y="0"/>
                </a:lnTo>
                <a:cubicBezTo>
                  <a:pt x="3502101" y="0"/>
                  <a:pt x="3671473" y="169372"/>
                  <a:pt x="3671473" y="378302"/>
                </a:cubicBezTo>
                <a:lnTo>
                  <a:pt x="3671473" y="1891463"/>
                </a:lnTo>
                <a:cubicBezTo>
                  <a:pt x="3671473" y="2100393"/>
                  <a:pt x="3502101" y="2269765"/>
                  <a:pt x="3293171" y="2269765"/>
                </a:cubicBezTo>
                <a:lnTo>
                  <a:pt x="374349" y="2269765"/>
                </a:lnTo>
                <a:cubicBezTo>
                  <a:pt x="191536" y="2269765"/>
                  <a:pt x="39008" y="2140090"/>
                  <a:pt x="3733" y="1967704"/>
                </a:cubicBezTo>
                <a:lnTo>
                  <a:pt x="0" y="1930676"/>
                </a:lnTo>
                <a:lnTo>
                  <a:pt x="0" y="339089"/>
                </a:lnTo>
                <a:lnTo>
                  <a:pt x="3733" y="302061"/>
                </a:lnTo>
                <a:cubicBezTo>
                  <a:pt x="39008" y="129676"/>
                  <a:pt x="191536" y="0"/>
                  <a:pt x="374349" y="0"/>
                </a:cubicBezTo>
                <a:close/>
              </a:path>
            </a:pathLst>
          </a:cu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0687B14-8AD9-C260-2472-2B873F649772}"/>
              </a:ext>
            </a:extLst>
          </p:cNvPr>
          <p:cNvSpPr/>
          <p:nvPr/>
        </p:nvSpPr>
        <p:spPr>
          <a:xfrm>
            <a:off x="762001" y="1520309"/>
            <a:ext cx="3663404" cy="4616242"/>
          </a:xfrm>
          <a:prstGeom prst="roundRect">
            <a:avLst/>
          </a:prstGeom>
          <a:noFill/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8EA62AD-EA0F-77BA-BB3C-0FA4C5046351}"/>
              </a:ext>
            </a:extLst>
          </p:cNvPr>
          <p:cNvSpPr/>
          <p:nvPr/>
        </p:nvSpPr>
        <p:spPr>
          <a:xfrm>
            <a:off x="4632471" y="1520309"/>
            <a:ext cx="2890356" cy="2818228"/>
          </a:xfrm>
          <a:prstGeom prst="roundRect">
            <a:avLst/>
          </a:prstGeom>
          <a:noFill/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BC6D4BF-6B32-D4B0-9424-A6E463161BFB}"/>
              </a:ext>
            </a:extLst>
          </p:cNvPr>
          <p:cNvSpPr/>
          <p:nvPr/>
        </p:nvSpPr>
        <p:spPr>
          <a:xfrm>
            <a:off x="4632472" y="4527507"/>
            <a:ext cx="2890355" cy="1609043"/>
          </a:xfrm>
          <a:prstGeom prst="roundRect">
            <a:avLst/>
          </a:prstGeom>
          <a:noFill/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1AF4E12-650D-82CA-FFE9-7F58AF388E0A}"/>
              </a:ext>
            </a:extLst>
          </p:cNvPr>
          <p:cNvSpPr/>
          <p:nvPr/>
        </p:nvSpPr>
        <p:spPr>
          <a:xfrm>
            <a:off x="7713328" y="3870478"/>
            <a:ext cx="3671472" cy="2266071"/>
          </a:xfrm>
          <a:prstGeom prst="roundRect">
            <a:avLst/>
          </a:prstGeom>
          <a:noFill/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27004B2-C728-79F6-2364-A6DF375E7AD3}"/>
              </a:ext>
            </a:extLst>
          </p:cNvPr>
          <p:cNvSpPr/>
          <p:nvPr/>
        </p:nvSpPr>
        <p:spPr>
          <a:xfrm>
            <a:off x="7713327" y="1520308"/>
            <a:ext cx="3663404" cy="2146753"/>
          </a:xfrm>
          <a:prstGeom prst="roundRect">
            <a:avLst/>
          </a:prstGeom>
          <a:noFill/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824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14FAE2-E8C2-889B-F426-E2C6C896B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4FBDA67-C1DB-8942-59D8-4121C105D5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3533" y="-229417"/>
            <a:ext cx="13019066" cy="694649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4030EBA-6BAD-6045-74DC-FEED8F40D141}"/>
              </a:ext>
            </a:extLst>
          </p:cNvPr>
          <p:cNvSpPr/>
          <p:nvPr/>
        </p:nvSpPr>
        <p:spPr>
          <a:xfrm>
            <a:off x="1524000" y="1524000"/>
            <a:ext cx="9144000" cy="38100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8BDF8"/>
            </a:solidFill>
          </a:ln>
          <a:effectLst>
            <a:outerShdw blurRad="63500" sx="102000" sy="102000" algn="ctr" rotWithShape="0">
              <a:schemeClr val="tx1">
                <a:lumMod val="95000"/>
                <a:lumOff val="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6434BD-1A95-877E-1F49-82237C754E3A}"/>
              </a:ext>
            </a:extLst>
          </p:cNvPr>
          <p:cNvSpPr txBox="1"/>
          <p:nvPr/>
        </p:nvSpPr>
        <p:spPr>
          <a:xfrm>
            <a:off x="2505075" y="1905000"/>
            <a:ext cx="71818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"This experience was not just academic - it was </a:t>
            </a:r>
            <a:r>
              <a:rPr lang="en-GB" sz="4000" b="1" dirty="0">
                <a:solidFill>
                  <a:srgbClr val="38BDF8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transformational</a:t>
            </a:r>
            <a:r>
              <a:rPr lang="en-GB" sz="4000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."</a:t>
            </a:r>
          </a:p>
          <a:p>
            <a:pPr algn="ctr"/>
            <a:endParaRPr lang="en-US" sz="4000" dirty="0">
              <a:solidFill>
                <a:schemeClr val="bg1"/>
              </a:solidFill>
              <a:latin typeface="Roboto Flex ExtraBold" panose="02000000000000000000" pitchFamily="2" charset="0"/>
              <a:ea typeface="Roboto Flex ExtraBold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223E5A-68B6-1E4D-B4A6-0C34DDDB6DFB}"/>
              </a:ext>
            </a:extLst>
          </p:cNvPr>
          <p:cNvSpPr txBox="1"/>
          <p:nvPr/>
        </p:nvSpPr>
        <p:spPr>
          <a:xfrm>
            <a:off x="3164733" y="4213681"/>
            <a:ext cx="58625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i="1" dirty="0">
                <a:solidFill>
                  <a:schemeClr val="bg1">
                    <a:lumMod val="95000"/>
                  </a:schemeClr>
                </a:solidFill>
                <a:latin typeface="Montserrat ExtraLight" pitchFamily="2" charset="0"/>
              </a:rPr>
              <a:t>It gave us deeper motivation and clearer direction for our future.</a:t>
            </a:r>
            <a:endParaRPr lang="en-US" sz="2000" i="1" dirty="0">
              <a:solidFill>
                <a:schemeClr val="bg1">
                  <a:lumMod val="95000"/>
                </a:schemeClr>
              </a:solidFill>
              <a:latin typeface="Montserrat ExtraLight" pitchFamily="2" charset="0"/>
              <a:ea typeface="Roboto Flex ExtraBold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D748EA-98F9-A327-E2B1-0B3A5325C05E}"/>
              </a:ext>
            </a:extLst>
          </p:cNvPr>
          <p:cNvSpPr txBox="1"/>
          <p:nvPr/>
        </p:nvSpPr>
        <p:spPr>
          <a:xfrm>
            <a:off x="3395663" y="5666180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bg1">
                    <a:lumMod val="95000"/>
                  </a:schemeClr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Vision</a:t>
            </a:r>
            <a:endParaRPr lang="en-US" sz="2800" dirty="0">
              <a:solidFill>
                <a:schemeClr val="bg1">
                  <a:lumMod val="95000"/>
                </a:schemeClr>
              </a:solidFill>
              <a:latin typeface="Roboto Flex ExtraBold" panose="02000000000000000000" pitchFamily="2" charset="0"/>
              <a:ea typeface="Roboto Flex ExtraBold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03C12D-C031-385F-70C6-442958B96DDA}"/>
              </a:ext>
            </a:extLst>
          </p:cNvPr>
          <p:cNvSpPr txBox="1"/>
          <p:nvPr/>
        </p:nvSpPr>
        <p:spPr>
          <a:xfrm>
            <a:off x="2016869" y="6104330"/>
            <a:ext cx="8158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38BDF8"/>
                </a:solidFill>
                <a:latin typeface="Montserrat Medium" pitchFamily="2" charset="0"/>
                <a:ea typeface="Roboto Flex" panose="02000000000000000000" pitchFamily="2" charset="0"/>
              </a:rPr>
              <a:t>"Connecting technology with education on the global map."</a:t>
            </a:r>
            <a:endParaRPr lang="en-US" sz="2000" b="1" dirty="0">
              <a:solidFill>
                <a:srgbClr val="38BDF8"/>
              </a:solidFill>
              <a:latin typeface="Montserrat Medium" pitchFamily="2" charset="0"/>
              <a:ea typeface="Roboto Flex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27596D-E2D8-1DC3-2448-52D6F214DF0C}"/>
              </a:ext>
            </a:extLst>
          </p:cNvPr>
          <p:cNvSpPr txBox="1"/>
          <p:nvPr/>
        </p:nvSpPr>
        <p:spPr>
          <a:xfrm>
            <a:off x="903495" y="549615"/>
            <a:ext cx="103850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Overall Impact</a:t>
            </a:r>
          </a:p>
        </p:txBody>
      </p:sp>
    </p:spTree>
    <p:extLst>
      <p:ext uri="{BB962C8B-B14F-4D97-AF65-F5344CB8AC3E}">
        <p14:creationId xmlns:p14="http://schemas.microsoft.com/office/powerpoint/2010/main" val="11085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2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6" grpId="0"/>
      <p:bldP spid="7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9A8CB-D9DB-6522-642E-BCEE2C0F6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C58C69B-5D21-FA33-E0A1-E0470613CE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3533" y="-44245"/>
            <a:ext cx="13019066" cy="694649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02C085E-6B63-D2EA-C717-8B1CFED64559}"/>
              </a:ext>
            </a:extLst>
          </p:cNvPr>
          <p:cNvSpPr/>
          <p:nvPr/>
        </p:nvSpPr>
        <p:spPr>
          <a:xfrm>
            <a:off x="0" y="5454011"/>
            <a:ext cx="12192000" cy="140398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80C5AC-31BF-F0B5-338C-8204A43FCCDA}"/>
              </a:ext>
            </a:extLst>
          </p:cNvPr>
          <p:cNvSpPr txBox="1"/>
          <p:nvPr/>
        </p:nvSpPr>
        <p:spPr>
          <a:xfrm>
            <a:off x="1246072" y="2450906"/>
            <a:ext cx="96998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T</a:t>
            </a:r>
            <a:r>
              <a:rPr lang="en-US" sz="4400" b="1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HANK YOU</a:t>
            </a:r>
            <a:endParaRPr lang="en-US" sz="4400" dirty="0">
              <a:solidFill>
                <a:schemeClr val="bg1"/>
              </a:solidFill>
              <a:latin typeface="Roboto Flex ExtraBold" panose="02000000000000000000" pitchFamily="2" charset="0"/>
              <a:ea typeface="Roboto Flex ExtraBold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8718B4-CF36-583A-9128-599A486CCACE}"/>
              </a:ext>
            </a:extLst>
          </p:cNvPr>
          <p:cNvSpPr txBox="1"/>
          <p:nvPr/>
        </p:nvSpPr>
        <p:spPr>
          <a:xfrm>
            <a:off x="1246072" y="3059668"/>
            <a:ext cx="9699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>
                    <a:lumMod val="65000"/>
                  </a:schemeClr>
                </a:solidFill>
                <a:latin typeface="Montserrat Medium" pitchFamily="2" charset="0"/>
                <a:ea typeface="Roboto Flex ExtraBold" panose="02000000000000000000" pitchFamily="2" charset="0"/>
              </a:rPr>
              <a:t>We welcome your Questions. Feel free to ask.</a:t>
            </a:r>
            <a:endParaRPr lang="en-US" dirty="0">
              <a:solidFill>
                <a:schemeClr val="bg1">
                  <a:lumMod val="65000"/>
                </a:schemeClr>
              </a:solidFill>
              <a:latin typeface="Montserrat Medium" pitchFamily="2" charset="0"/>
              <a:ea typeface="Roboto Flex ExtraBold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F2678E-8126-67B8-64D4-53C81515AFDD}"/>
              </a:ext>
            </a:extLst>
          </p:cNvPr>
          <p:cNvSpPr txBox="1"/>
          <p:nvPr/>
        </p:nvSpPr>
        <p:spPr>
          <a:xfrm>
            <a:off x="1246072" y="5790828"/>
            <a:ext cx="96998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  <a:latin typeface="Montserrat Medium" pitchFamily="2" charset="0"/>
                <a:ea typeface="Roboto Flex ExtraBold" panose="02000000000000000000" pitchFamily="2" charset="0"/>
              </a:rPr>
              <a:t>Slides by </a:t>
            </a:r>
            <a:r>
              <a:rPr lang="en-GB" sz="1400" b="1" dirty="0">
                <a:solidFill>
                  <a:srgbClr val="38BDF8"/>
                </a:solidFill>
                <a:latin typeface="Montserrat Medium" pitchFamily="2" charset="0"/>
                <a:ea typeface="Roboto Flex ExtraBold" panose="02000000000000000000" pitchFamily="2" charset="0"/>
              </a:rPr>
              <a:t>Md. Nafiz</a:t>
            </a:r>
            <a:br>
              <a:rPr lang="en-GB" sz="1400" b="1" dirty="0">
                <a:solidFill>
                  <a:schemeClr val="bg1"/>
                </a:solidFill>
                <a:latin typeface="Montserrat Medium" pitchFamily="2" charset="0"/>
                <a:ea typeface="Roboto Flex ExtraBold" panose="02000000000000000000" pitchFamily="2" charset="0"/>
              </a:rPr>
            </a:br>
            <a:r>
              <a:rPr lang="en-GB" sz="1400" b="1" dirty="0">
                <a:solidFill>
                  <a:schemeClr val="bg1"/>
                </a:solidFill>
                <a:latin typeface="Montserrat Medium" pitchFamily="2" charset="0"/>
                <a:ea typeface="Roboto Flex ExtraBold" panose="02000000000000000000" pitchFamily="2" charset="0"/>
              </a:rPr>
              <a:t>Email: </a:t>
            </a:r>
            <a:r>
              <a:rPr lang="en-GB" sz="1400" b="1" dirty="0">
                <a:solidFill>
                  <a:srgbClr val="38BDF8"/>
                </a:solidFill>
                <a:latin typeface="Montserrat Medium" pitchFamily="2" charset="0"/>
                <a:ea typeface="Roboto Flex ExtraBold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md.nafiz2023@gmail.com</a:t>
            </a:r>
            <a:br>
              <a:rPr lang="en-GB" sz="1400" b="1" dirty="0">
                <a:solidFill>
                  <a:schemeClr val="bg1"/>
                </a:solidFill>
                <a:latin typeface="Montserrat Medium" pitchFamily="2" charset="0"/>
                <a:ea typeface="Roboto Flex ExtraBold" panose="02000000000000000000" pitchFamily="2" charset="0"/>
              </a:rPr>
            </a:br>
            <a:r>
              <a:rPr lang="en-GB" sz="1400" b="1" dirty="0">
                <a:solidFill>
                  <a:schemeClr val="bg1"/>
                </a:solidFill>
                <a:latin typeface="Montserrat Medium" pitchFamily="2" charset="0"/>
                <a:ea typeface="Roboto Flex ExtraBold" panose="02000000000000000000" pitchFamily="2" charset="0"/>
              </a:rPr>
              <a:t>Facebook: </a:t>
            </a:r>
            <a:r>
              <a:rPr lang="en-GB" sz="1400" b="1" dirty="0">
                <a:solidFill>
                  <a:srgbClr val="38BDF8"/>
                </a:solidFill>
                <a:latin typeface="Montserrat Medium" pitchFamily="2" charset="0"/>
                <a:ea typeface="Roboto Flex ExtraBold" panose="02000000000000000000" pitchFamily="2" charset="0"/>
              </a:rPr>
              <a:t>Muhammad Nafiz</a:t>
            </a:r>
            <a:endParaRPr lang="en-US" sz="1400" dirty="0">
              <a:solidFill>
                <a:srgbClr val="38BDF8"/>
              </a:solidFill>
              <a:latin typeface="Montserrat Medium" pitchFamily="2" charset="0"/>
              <a:ea typeface="Roboto Flex ExtraBold" panose="020000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C3A583-0343-D7D6-59A9-16E94D3B2F8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86818" y="697840"/>
            <a:ext cx="2687901" cy="475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714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775</Words>
  <Application>Microsoft Office PowerPoint</Application>
  <PresentationFormat>Widescreen</PresentationFormat>
  <Paragraphs>78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Aptos Display</vt:lpstr>
      <vt:lpstr>Arial</vt:lpstr>
      <vt:lpstr>Montserrat ExtraBold</vt:lpstr>
      <vt:lpstr>Montserrat ExtraLight</vt:lpstr>
      <vt:lpstr>Montserrat Medium</vt:lpstr>
      <vt:lpstr>Roboto Flex ExtraBold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Nafiz</dc:creator>
  <cp:lastModifiedBy>Md Nafiz</cp:lastModifiedBy>
  <cp:revision>13</cp:revision>
  <dcterms:created xsi:type="dcterms:W3CDTF">2026-02-26T15:01:38Z</dcterms:created>
  <dcterms:modified xsi:type="dcterms:W3CDTF">2026-03-01T15:05:09Z</dcterms:modified>
</cp:coreProperties>
</file>